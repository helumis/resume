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y="5143500" cx="9144000"/>
  <p:notesSz cx="6858000" cy="9144000"/>
  <p:embeddedFontLst>
    <p:embeddedFont>
      <p:font typeface="Montserrat"/>
      <p:regular r:id="rId38"/>
      <p:bold r:id="rId39"/>
      <p:italic r:id="rId40"/>
      <p:boldItalic r:id="rId41"/>
    </p:embeddedFont>
    <p:embeddedFont>
      <p:font typeface="Lato"/>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D419616-09A9-40A1-9AF6-436F3306581F}">
  <a:tblStyle styleId="{DD419616-09A9-40A1-9AF6-436F3306581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AE8E5BE-CA71-47E5-B055-A034FCC924C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italic.fntdata"/><Relationship Id="rId20" Type="http://schemas.openxmlformats.org/officeDocument/2006/relationships/slide" Target="slides/slide14.xml"/><Relationship Id="rId42" Type="http://schemas.openxmlformats.org/officeDocument/2006/relationships/font" Target="fonts/Lato-regular.fntdata"/><Relationship Id="rId41" Type="http://schemas.openxmlformats.org/officeDocument/2006/relationships/font" Target="fonts/Montserrat-boldItalic.fntdata"/><Relationship Id="rId22" Type="http://schemas.openxmlformats.org/officeDocument/2006/relationships/slide" Target="slides/slide16.xml"/><Relationship Id="rId44" Type="http://schemas.openxmlformats.org/officeDocument/2006/relationships/font" Target="fonts/Lato-italic.fntdata"/><Relationship Id="rId21" Type="http://schemas.openxmlformats.org/officeDocument/2006/relationships/slide" Target="slides/slide15.xml"/><Relationship Id="rId43" Type="http://schemas.openxmlformats.org/officeDocument/2006/relationships/font" Target="fonts/Lato-bold.fntdata"/><Relationship Id="rId24" Type="http://schemas.openxmlformats.org/officeDocument/2006/relationships/slide" Target="slides/slide18.xml"/><Relationship Id="rId23" Type="http://schemas.openxmlformats.org/officeDocument/2006/relationships/slide" Target="slides/slide17.xml"/><Relationship Id="rId45" Type="http://schemas.openxmlformats.org/officeDocument/2006/relationships/font" Target="fonts/La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font" Target="fonts/Montserrat-bold.fntdata"/><Relationship Id="rId16" Type="http://schemas.openxmlformats.org/officeDocument/2006/relationships/slide" Target="slides/slide10.xml"/><Relationship Id="rId38" Type="http://schemas.openxmlformats.org/officeDocument/2006/relationships/font" Target="fonts/Montserrat-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aa999936a_0_2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5aa999936a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5aa999936a_0_2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5aa999936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5aa999936a_0_3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5aa999936a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5abf8e95ff_0_3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5abf8e95ff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5abf8e95ff_0_1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5abf8e95f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abf8e95ff_0_4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abf8e95ff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aa999936a_2_2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aa999936a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abf8e95ff_0_6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abf8e95f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5abf8e95ff_0_17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5abf8e95f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5aa999936a_2_2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5aa999936a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abf8e95ff_0_20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5abf8e95f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5abf8e95ff_0_13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5abf8e95f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5abf8e95ff_0_191: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5abf8e95ff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5abf8e95ff_0_22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35abf8e95ff_0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5abf8e95ff_0_24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5abf8e95f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5abf8e95ff_0_26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35abf8e95ff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5abf8e95ff_0_326: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5abf8e95ff_0_3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5aa999936a_2_1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5aa999936a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5abf8e95ff_0_28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35abf8e95ff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5ae49a8d15_0_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35ae49a8d1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35abf8e95ff_0_30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35abf8e95ff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g35abf8e95ff_0_297: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3" name="Google Shape;473;g35abf8e95ff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g35ae49a8d15_0_1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2" name="Google Shape;492;g35ae49a8d1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5abf8e95ff_0_312: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35abf8e95ff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g35abf8e95ff_0_319: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1" name="Google Shape;531;g35abf8e95ff_0_3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5abf8e95ff_0_338: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5abf8e95ff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5ae49a8d15_0_23: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5ae49a8d15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zh-TW"/>
              <a:t>Slide 1｜什麼是 C+P 價平履約價 K 線？</a:t>
            </a:r>
            <a:endParaRPr/>
          </a:p>
          <a:p>
            <a:pPr indent="0" lvl="0" marL="0" rtl="0" algn="l">
              <a:spcBef>
                <a:spcPts val="0"/>
              </a:spcBef>
              <a:spcAft>
                <a:spcPts val="0"/>
              </a:spcAft>
              <a:buClr>
                <a:schemeClr val="dk1"/>
              </a:buClr>
              <a:buSzPts val="1100"/>
              <a:buFont typeface="Arial"/>
              <a:buNone/>
            </a:pPr>
            <a:r>
              <a:rPr lang="zh-TW"/>
              <a:t>定義：</a:t>
            </a:r>
            <a:endParaRPr/>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每分鐘以 收盤價差最小的 CALL / PUT 配對 作為該時點的「價平履約價」</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步驟：</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找出價平履約價</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取該履約價下 CALL 與 PUT 的 K 線資料（O/H/L/C）</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將兩者 K 棒加總（C + P）→ 合成新 K 線</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結果：產生一條隨時間推移的 價平 C+P 合成 K 線圖</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Slide 2｜為何這樣合成？有何觀察價值？</a:t>
            </a:r>
            <a:endParaRPr b="1"/>
          </a:p>
          <a:p>
            <a:pPr indent="0" lvl="0" marL="0" rtl="0" algn="l">
              <a:spcBef>
                <a:spcPts val="0"/>
              </a:spcBef>
              <a:spcAft>
                <a:spcPts val="0"/>
              </a:spcAft>
              <a:buClr>
                <a:schemeClr val="dk1"/>
              </a:buClr>
              <a:buSzPts val="1100"/>
              <a:buFont typeface="Arial"/>
              <a:buNone/>
            </a:pPr>
            <a:r>
              <a:rPr b="1" lang="zh-TW"/>
              <a:t>中性視角觀察市場變化</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CALL 偏多、PUT 偏空 → C+P 平衡雙方力量</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揭示市場對「該價位」的總體價值認知</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C+P 為市場對當下價平點的合成預期</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有助捕捉結構性變化或轉折</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lang="zh-TW"/>
              <a:t>長上/下影：造市者調整、價格跳動、波動異常</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Slide 3｜應用價值</a:t>
            </a:r>
            <a:endParaRPr/>
          </a:p>
          <a:p>
            <a:pPr indent="0" lvl="0" marL="0" rtl="0" algn="l">
              <a:spcBef>
                <a:spcPts val="0"/>
              </a:spcBef>
              <a:spcAft>
                <a:spcPts val="0"/>
              </a:spcAft>
              <a:buClr>
                <a:schemeClr val="dk1"/>
              </a:buClr>
              <a:buSzPts val="1100"/>
              <a:buFont typeface="Arial"/>
              <a:buNone/>
            </a:pPr>
            <a:r>
              <a:rPr b="1" lang="zh-TW"/>
              <a:t>期權市場價格重心的動態追蹤工具</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交易參考點：</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觀</a:t>
            </a:r>
            <a:r>
              <a:rPr b="1" lang="zh-TW"/>
              <a:t>察「市場平衡位置」是否轉移（價平點跳轉）</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輔助量化模型：</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提升 Delta Hedge 穩定性</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提供方向性模型額外的中性過濾器</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辨識壓力與支撐結構</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傳統技術分析難以處理的合成區間，可透過此方式補強</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lide 4｜與策略連結：Straddle 與 Strangle</a:t>
            </a:r>
            <a:endParaRPr/>
          </a:p>
          <a:p>
            <a:pPr indent="0" lvl="0" marL="0" rtl="0" algn="l">
              <a:spcBef>
                <a:spcPts val="0"/>
              </a:spcBef>
              <a:spcAft>
                <a:spcPts val="0"/>
              </a:spcAft>
              <a:buClr>
                <a:schemeClr val="dk1"/>
              </a:buClr>
              <a:buSzPts val="1100"/>
              <a:buFont typeface="Arial"/>
              <a:buNone/>
            </a:pPr>
            <a:r>
              <a:rPr b="1" lang="zh-TW"/>
              <a:t>Straddle</a:t>
            </a:r>
            <a:endParaRPr b="1"/>
          </a:p>
          <a:p>
            <a:pPr indent="0" lvl="0" marL="0" rtl="0" algn="l">
              <a:spcBef>
                <a:spcPts val="0"/>
              </a:spcBef>
              <a:spcAft>
                <a:spcPts val="0"/>
              </a:spcAft>
              <a:buClr>
                <a:schemeClr val="dk1"/>
              </a:buClr>
              <a:buSzPts val="1100"/>
              <a:buFont typeface="Arial"/>
              <a:buNone/>
            </a:pPr>
            <a:r>
              <a:rPr b="1" lang="zh-TW"/>
              <a:t>同履約價、同到期日 → 同時買入 CALL + PUT</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成本高、方向中立、波動交易者常用</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zh-TW"/>
              <a:t>C+P K 線 = 該策略成本的變化圖</a:t>
            </a:r>
            <a:endParaRPr b="1"/>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zh-TW"/>
              <a:t>Strangle</a:t>
            </a:r>
            <a:endParaRPr/>
          </a:p>
          <a:p>
            <a:pPr indent="0" lvl="0" marL="0" rtl="0" algn="l">
              <a:spcBef>
                <a:spcPts val="0"/>
              </a:spcBef>
              <a:spcAft>
                <a:spcPts val="0"/>
              </a:spcAft>
              <a:buClr>
                <a:schemeClr val="dk1"/>
              </a:buClr>
              <a:buSzPts val="1100"/>
              <a:buFont typeface="Arial"/>
              <a:buNone/>
            </a:pPr>
            <a:r>
              <a:rPr lang="zh-TW"/>
              <a:t>不同履約價的 CALL/PUT（但同到期日）</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b="1" lang="zh-TW"/>
              <a:t>成本低、需更大波動才能獲利</a:t>
            </a:r>
            <a:endParaRPr b="1"/>
          </a:p>
          <a:p>
            <a:pPr indent="0" lvl="0" marL="0" rtl="0" algn="l">
              <a:spcBef>
                <a:spcPts val="0"/>
              </a:spcBef>
              <a:spcAft>
                <a:spcPts val="0"/>
              </a:spcAft>
              <a:buClr>
                <a:schemeClr val="dk1"/>
              </a:buClr>
              <a:buSzPts val="1100"/>
              <a:buFont typeface="Arial"/>
              <a:buNone/>
            </a:pPr>
            <a:r>
              <a:t/>
            </a:r>
            <a:endParaRPr b="1"/>
          </a:p>
          <a:p>
            <a:pPr indent="0" lvl="0" marL="0" rtl="0" algn="l">
              <a:spcBef>
                <a:spcPts val="0"/>
              </a:spcBef>
              <a:spcAft>
                <a:spcPts val="0"/>
              </a:spcAft>
              <a:buClr>
                <a:schemeClr val="dk1"/>
              </a:buClr>
              <a:buSzPts val="1100"/>
              <a:buFont typeface="Arial"/>
              <a:buNone/>
            </a:pPr>
            <a:r>
              <a:rPr b="1" lang="zh-TW"/>
              <a:t>C+P K 線有助追蹤「價平點轉移」以判斷可能切換區間</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lnSpc>
                <a:spcPct val="115000"/>
              </a:lnSpc>
              <a:spcBef>
                <a:spcPts val="1400"/>
              </a:spcBef>
              <a:spcAft>
                <a:spcPts val="0"/>
              </a:spcAft>
              <a:buClr>
                <a:schemeClr val="dk1"/>
              </a:buClr>
              <a:buSzPts val="1100"/>
              <a:buFont typeface="Arial"/>
              <a:buNone/>
            </a:pPr>
            <a:r>
              <a:rPr b="1" lang="zh-TW" sz="1300">
                <a:solidFill>
                  <a:schemeClr val="dk1"/>
                </a:solidFill>
              </a:rPr>
              <a:t>🔹一、揭示市場「中性預期」是什麼意思？</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 說明：</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傳統看 CALL 是做多、PUT 是做空</a:t>
            </a:r>
            <a:br>
              <a:rPr lang="zh-T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但在某些時刻，市場並不明確偏多或偏空</a:t>
            </a:r>
            <a:br>
              <a:rPr lang="zh-T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此時「</a:t>
            </a:r>
            <a:r>
              <a:rPr b="1" lang="zh-TW">
                <a:solidFill>
                  <a:schemeClr val="dk1"/>
                </a:solidFill>
              </a:rPr>
              <a:t>CALL + PUT 的合計價格</a:t>
            </a:r>
            <a:r>
              <a:rPr lang="zh-TW">
                <a:solidFill>
                  <a:schemeClr val="dk1"/>
                </a:solidFill>
              </a:rPr>
              <a:t>」能反映：</a:t>
            </a:r>
            <a:br>
              <a:rPr lang="zh-TW">
                <a:solidFill>
                  <a:schemeClr val="dk1"/>
                </a:solidFill>
              </a:rPr>
            </a:br>
            <a:br>
              <a:rPr lang="zh-TW">
                <a:solidFill>
                  <a:schemeClr val="dk1"/>
                </a:solidFill>
              </a:rPr>
            </a:br>
            <a:br>
              <a:rPr lang="zh-TW">
                <a:solidFill>
                  <a:schemeClr val="dk1"/>
                </a:solidFill>
              </a:rPr>
            </a:br>
            <a:r>
              <a:rPr lang="zh-TW">
                <a:solidFill>
                  <a:schemeClr val="dk1"/>
                </a:solidFill>
              </a:rPr>
              <a:t> 市場願意花多少總成本，布局一個“雙邊都有機會”的區間 → </a:t>
            </a:r>
            <a:r>
              <a:rPr b="1" lang="zh-TW">
                <a:solidFill>
                  <a:schemeClr val="dk1"/>
                </a:solidFill>
              </a:rPr>
              <a:t>即市場對波動可能性的「中性預期」</a:t>
            </a:r>
            <a:br>
              <a:rPr b="1" lang="zh-TW">
                <a:solidFill>
                  <a:schemeClr val="dk1"/>
                </a:solidFill>
              </a:rPr>
            </a:br>
            <a:br>
              <a:rPr b="1" lang="zh-TW">
                <a:solidFill>
                  <a:schemeClr val="dk1"/>
                </a:solidFill>
              </a:rPr>
            </a:b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 補充語句（可口語說）：</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zh-TW">
                <a:solidFill>
                  <a:schemeClr val="dk1"/>
                </a:solidFill>
              </a:rPr>
              <a:t>「把買權和賣權的收盤價相加，我們得到一個總和，代表市場在那個履約價，願意為上下波動支付的價格。這其實是一種中性的市場期望，沒有方向偏見，純粹反映市場對波動潛力的共識。」</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TW" sz="1300">
                <a:solidFill>
                  <a:schemeClr val="dk1"/>
                </a:solidFill>
              </a:rPr>
              <a:t>🔹二、捕捉結構變化是什麼意思？</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 說明：</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lang="zh-TW">
                <a:solidFill>
                  <a:schemeClr val="dk1"/>
                </a:solidFill>
              </a:rPr>
              <a:t>C+P K 線反映「價平點的價值總體變化」</a:t>
            </a:r>
            <a:br>
              <a:rPr lang="zh-TW">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zh-TW">
                <a:solidFill>
                  <a:schemeClr val="dk1"/>
                </a:solidFill>
              </a:rPr>
              <a:t>如果這條線產生異常（如</a:t>
            </a:r>
            <a:r>
              <a:rPr b="1" lang="zh-TW">
                <a:solidFill>
                  <a:schemeClr val="dk1"/>
                </a:solidFill>
              </a:rPr>
              <a:t>急劇跳動</a:t>
            </a:r>
            <a:r>
              <a:rPr lang="zh-TW">
                <a:solidFill>
                  <a:schemeClr val="dk1"/>
                </a:solidFill>
              </a:rPr>
              <a:t>、</a:t>
            </a:r>
            <a:r>
              <a:rPr b="1" lang="zh-TW">
                <a:solidFill>
                  <a:schemeClr val="dk1"/>
                </a:solidFill>
              </a:rPr>
              <a:t>影線劇烈</a:t>
            </a:r>
            <a:r>
              <a:rPr lang="zh-TW">
                <a:solidFill>
                  <a:schemeClr val="dk1"/>
                </a:solidFill>
              </a:rPr>
              <a:t>），可能代表：</a:t>
            </a:r>
            <a:br>
              <a:rPr lang="zh-T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zh-TW">
                <a:solidFill>
                  <a:schemeClr val="dk1"/>
                </a:solidFill>
              </a:rPr>
              <a:t>市場對風險重新定價</a:t>
            </a:r>
            <a:br>
              <a:rPr lang="zh-T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zh-TW">
                <a:solidFill>
                  <a:schemeClr val="dk1"/>
                </a:solidFill>
              </a:rPr>
              <a:t>價平區轉移</a:t>
            </a:r>
            <a:br>
              <a:rPr lang="zh-TW">
                <a:solidFill>
                  <a:schemeClr val="dk1"/>
                </a:solidFill>
              </a:rPr>
            </a:br>
            <a:endParaRPr>
              <a:solidFill>
                <a:schemeClr val="dk1"/>
              </a:solidFill>
            </a:endParaRPr>
          </a:p>
          <a:p>
            <a:pPr indent="-298450" lvl="1" marL="914400" rtl="0" algn="l">
              <a:lnSpc>
                <a:spcPct val="115000"/>
              </a:lnSpc>
              <a:spcBef>
                <a:spcPts val="0"/>
              </a:spcBef>
              <a:spcAft>
                <a:spcPts val="0"/>
              </a:spcAft>
              <a:buClr>
                <a:schemeClr val="dk1"/>
              </a:buClr>
              <a:buSzPts val="1100"/>
              <a:buChar char="○"/>
            </a:pPr>
            <a:r>
              <a:rPr lang="zh-TW">
                <a:solidFill>
                  <a:schemeClr val="dk1"/>
                </a:solidFill>
              </a:rPr>
              <a:t>波動結構被重新評估</a:t>
            </a:r>
            <a:br>
              <a:rPr lang="zh-TW">
                <a:solidFill>
                  <a:schemeClr val="dk1"/>
                </a:solidFill>
              </a:rPr>
            </a:b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zh-TW">
                <a:solidFill>
                  <a:schemeClr val="dk1"/>
                </a:solidFill>
              </a:rPr>
              <a:t>✅ 補充語句：</a:t>
            </a:r>
            <a:endParaRPr b="1">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zh-TW">
                <a:solidFill>
                  <a:schemeClr val="dk1"/>
                </a:solidFill>
              </a:rPr>
              <a:t>「當 C+P K 線出現長上影、長下影，或是突然放量大波動，這往往是市場開始調整對某個履約價的風險預期，可能是有新訊息進入、或是有資金重新調倉。」</a:t>
            </a:r>
            <a:endParaRPr>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zh-TW">
                <a:solidFill>
                  <a:schemeClr val="dk1"/>
                </a:solidFill>
              </a:rPr>
              <a:t>「我們可以透過這條合成線，看見市場在哪些價位開始『不平衡』，哪些價位反而形成了新的焦點。」</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zh-TW" sz="1300">
                <a:solidFill>
                  <a:schemeClr val="dk1"/>
                </a:solidFill>
              </a:rPr>
              <a:t>✅ 總結一句話（可當小標或開場白）：</a:t>
            </a:r>
            <a:endParaRPr b="1" sz="13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zh-TW">
                <a:solidFill>
                  <a:schemeClr val="dk1"/>
                </a:solidFill>
              </a:rPr>
              <a:t>「C+P 價平履約價 K 線，就像是一把測量市場預期重心與波動結構的溫度計。」</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g35aa999936a_2_4: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0" name="Google Shape;580;g35aa999936a_2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5aa999936a_2_35: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5aa999936a_2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5aa999936a_2_10:notes"/>
          <p:cNvSpPr/>
          <p:nvPr>
            <p:ph idx="2" type="sldImg"/>
          </p:nvPr>
        </p:nvSpPr>
        <p:spPr>
          <a:xfrm>
            <a:off x="381309"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35aa999936a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1"/>
        </a:solidFill>
      </p:bgPr>
    </p:bg>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2" name="Google Shape;12;p2"/>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14" name="Google Shape;14;p2"/>
          <p:cNvPicPr preferRelativeResize="0"/>
          <p:nvPr/>
        </p:nvPicPr>
        <p:blipFill>
          <a:blip r:embed="rId2">
            <a:alphaModFix/>
          </a:blip>
          <a:stretch>
            <a:fillRect/>
          </a:stretch>
        </p:blipFill>
        <p:spPr>
          <a:xfrm>
            <a:off x="52900" y="514899"/>
            <a:ext cx="2640301" cy="6149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grpSp>
        <p:nvGrpSpPr>
          <p:cNvPr id="16" name="Google Shape;16;p3"/>
          <p:cNvGrpSpPr/>
          <p:nvPr/>
        </p:nvGrpSpPr>
        <p:grpSpPr>
          <a:xfrm>
            <a:off x="4406400" y="0"/>
            <a:ext cx="4737600" cy="5143065"/>
            <a:chOff x="4406400" y="0"/>
            <a:chExt cx="4737600" cy="5143065"/>
          </a:xfrm>
        </p:grpSpPr>
        <p:sp>
          <p:nvSpPr>
            <p:cNvPr id="17" name="Google Shape;17;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5" name="Google Shape;35;p3"/>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6" name="Google Shape;3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37" name="Google Shape;37;p3"/>
          <p:cNvPicPr preferRelativeResize="0"/>
          <p:nvPr/>
        </p:nvPicPr>
        <p:blipFill>
          <a:blip r:embed="rId2">
            <a:alphaModFix/>
          </a:blip>
          <a:stretch>
            <a:fillRect/>
          </a:stretch>
        </p:blipFill>
        <p:spPr>
          <a:xfrm>
            <a:off x="52900" y="514899"/>
            <a:ext cx="2640301" cy="614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 name="Shape 38"/>
        <p:cNvGrpSpPr/>
        <p:nvPr/>
      </p:nvGrpSpPr>
      <p:grpSpPr>
        <a:xfrm>
          <a:off x="0" y="0"/>
          <a:ext cx="0" cy="0"/>
          <a:chOff x="0" y="0"/>
          <a:chExt cx="0" cy="0"/>
        </a:xfrm>
      </p:grpSpPr>
      <p:sp>
        <p:nvSpPr>
          <p:cNvPr id="39" name="Google Shape;39;p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grpSp>
        <p:nvGrpSpPr>
          <p:cNvPr id="41" name="Google Shape;41;p4"/>
          <p:cNvGrpSpPr/>
          <p:nvPr/>
        </p:nvGrpSpPr>
        <p:grpSpPr>
          <a:xfrm>
            <a:off x="0" y="381001"/>
            <a:ext cx="1037850" cy="1016287"/>
            <a:chOff x="0" y="381001"/>
            <a:chExt cx="1037850" cy="1016287"/>
          </a:xfrm>
        </p:grpSpPr>
        <p:sp>
          <p:nvSpPr>
            <p:cNvPr id="42" name="Google Shape;42;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4" name="Google Shape;44;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zh-TW"/>
              <a:t>‹#›</a:t>
            </a:fld>
            <a:endParaRPr/>
          </a:p>
        </p:txBody>
      </p:sp>
      <p:pic>
        <p:nvPicPr>
          <p:cNvPr id="45" name="Google Shape;45;p4"/>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6" name="Shape 46"/>
        <p:cNvGrpSpPr/>
        <p:nvPr/>
      </p:nvGrpSpPr>
      <p:grpSpPr>
        <a:xfrm>
          <a:off x="0" y="0"/>
          <a:ext cx="0" cy="0"/>
          <a:chOff x="0" y="0"/>
          <a:chExt cx="0" cy="0"/>
        </a:xfrm>
      </p:grpSpPr>
      <p:grpSp>
        <p:nvGrpSpPr>
          <p:cNvPr id="47" name="Google Shape;47;p5"/>
          <p:cNvGrpSpPr/>
          <p:nvPr/>
        </p:nvGrpSpPr>
        <p:grpSpPr>
          <a:xfrm>
            <a:off x="0" y="381001"/>
            <a:ext cx="1037850" cy="1016287"/>
            <a:chOff x="0" y="381001"/>
            <a:chExt cx="1037850" cy="1016287"/>
          </a:xfrm>
        </p:grpSpPr>
        <p:sp>
          <p:nvSpPr>
            <p:cNvPr id="48" name="Google Shape;48;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0" name="Google Shape;50;p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1" name="Google Shape;51;p5"/>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2" name="Google Shape;52;p5"/>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3" name="Google Shape;5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54" name="Google Shape;54;p5"/>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grpSp>
        <p:nvGrpSpPr>
          <p:cNvPr id="56" name="Google Shape;56;p6"/>
          <p:cNvGrpSpPr/>
          <p:nvPr/>
        </p:nvGrpSpPr>
        <p:grpSpPr>
          <a:xfrm>
            <a:off x="0" y="381001"/>
            <a:ext cx="1037850" cy="1016287"/>
            <a:chOff x="0" y="381001"/>
            <a:chExt cx="1037850" cy="1016287"/>
          </a:xfrm>
        </p:grpSpPr>
        <p:sp>
          <p:nvSpPr>
            <p:cNvPr id="57" name="Google Shape;57;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0" name="Google Shape;6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61" name="Google Shape;61;p6"/>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2"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7"/>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7" name="Google Shape;67;p7"/>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8" name="Google Shape;68;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69" name="Google Shape;69;p7"/>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0" name="Shape 70"/>
        <p:cNvGrpSpPr/>
        <p:nvPr/>
      </p:nvGrpSpPr>
      <p:grpSpPr>
        <a:xfrm>
          <a:off x="0" y="0"/>
          <a:ext cx="0" cy="0"/>
          <a:chOff x="0" y="0"/>
          <a:chExt cx="0" cy="0"/>
        </a:xfrm>
      </p:grpSpPr>
      <p:grpSp>
        <p:nvGrpSpPr>
          <p:cNvPr id="71" name="Google Shape;71;p8"/>
          <p:cNvGrpSpPr/>
          <p:nvPr/>
        </p:nvGrpSpPr>
        <p:grpSpPr>
          <a:xfrm>
            <a:off x="4406400" y="0"/>
            <a:ext cx="4737600" cy="5143500"/>
            <a:chOff x="4406400" y="0"/>
            <a:chExt cx="4737600" cy="5143500"/>
          </a:xfrm>
        </p:grpSpPr>
        <p:sp>
          <p:nvSpPr>
            <p:cNvPr id="72" name="Google Shape;72;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8"/>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1" name="Google Shape;91;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92" name="Google Shape;92;p8"/>
          <p:cNvPicPr preferRelativeResize="0"/>
          <p:nvPr/>
        </p:nvPicPr>
        <p:blipFill>
          <a:blip r:embed="rId2">
            <a:alphaModFix/>
          </a:blip>
          <a:stretch>
            <a:fillRect/>
          </a:stretch>
        </p:blipFill>
        <p:spPr>
          <a:xfrm>
            <a:off x="52900" y="514899"/>
            <a:ext cx="2640301" cy="614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3" name="Shape 93"/>
        <p:cNvGrpSpPr/>
        <p:nvPr/>
      </p:nvGrpSpPr>
      <p:grpSpPr>
        <a:xfrm>
          <a:off x="0" y="0"/>
          <a:ext cx="0" cy="0"/>
          <a:chOff x="0" y="0"/>
          <a:chExt cx="0" cy="0"/>
        </a:xfrm>
      </p:grpSpPr>
      <p:grpSp>
        <p:nvGrpSpPr>
          <p:cNvPr id="94" name="Google Shape;94;p9"/>
          <p:cNvGrpSpPr/>
          <p:nvPr/>
        </p:nvGrpSpPr>
        <p:grpSpPr>
          <a:xfrm>
            <a:off x="0" y="381001"/>
            <a:ext cx="1037850" cy="1016287"/>
            <a:chOff x="0" y="381001"/>
            <a:chExt cx="1037850" cy="1016287"/>
          </a:xfrm>
        </p:grpSpPr>
        <p:sp>
          <p:nvSpPr>
            <p:cNvPr id="95" name="Google Shape;95;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9"/>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9"/>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99" name="Google Shape;99;p9"/>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101" name="Google Shape;101;p9"/>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2" name="Shape 102"/>
        <p:cNvGrpSpPr/>
        <p:nvPr/>
      </p:nvGrpSpPr>
      <p:grpSpPr>
        <a:xfrm>
          <a:off x="0" y="0"/>
          <a:ext cx="0" cy="0"/>
          <a:chOff x="0" y="0"/>
          <a:chExt cx="0" cy="0"/>
        </a:xfrm>
      </p:grpSpPr>
      <p:grpSp>
        <p:nvGrpSpPr>
          <p:cNvPr id="103" name="Google Shape;103;p10"/>
          <p:cNvGrpSpPr/>
          <p:nvPr/>
        </p:nvGrpSpPr>
        <p:grpSpPr>
          <a:xfrm>
            <a:off x="0" y="4128572"/>
            <a:ext cx="698925" cy="684657"/>
            <a:chOff x="0" y="3785672"/>
            <a:chExt cx="698925" cy="684657"/>
          </a:xfrm>
        </p:grpSpPr>
        <p:sp>
          <p:nvSpPr>
            <p:cNvPr id="104" name="Google Shape;104;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6" name="Google Shape;106;p10"/>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7" name="Google Shape;10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108" name="Google Shape;108;p10"/>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09" name="Shape 109"/>
        <p:cNvGrpSpPr/>
        <p:nvPr/>
      </p:nvGrpSpPr>
      <p:grpSpPr>
        <a:xfrm>
          <a:off x="0" y="0"/>
          <a:ext cx="0" cy="0"/>
          <a:chOff x="0" y="0"/>
          <a:chExt cx="0" cy="0"/>
        </a:xfrm>
      </p:grpSpPr>
      <p:grpSp>
        <p:nvGrpSpPr>
          <p:cNvPr id="110" name="Google Shape;110;p11"/>
          <p:cNvGrpSpPr/>
          <p:nvPr/>
        </p:nvGrpSpPr>
        <p:grpSpPr>
          <a:xfrm>
            <a:off x="4406400" y="0"/>
            <a:ext cx="4737600" cy="5143065"/>
            <a:chOff x="4406400" y="0"/>
            <a:chExt cx="4737600" cy="5143065"/>
          </a:xfrm>
        </p:grpSpPr>
        <p:sp>
          <p:nvSpPr>
            <p:cNvPr id="111" name="Google Shape;111;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29" name="Google Shape;129;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0" name="Google Shape;130;p11"/>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1" name="Google Shape;131;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132" name="Google Shape;132;p11"/>
          <p:cNvPicPr preferRelativeResize="0"/>
          <p:nvPr/>
        </p:nvPicPr>
        <p:blipFill>
          <a:blip r:embed="rId2">
            <a:alphaModFix/>
          </a:blip>
          <a:stretch>
            <a:fillRect/>
          </a:stretch>
        </p:blipFill>
        <p:spPr>
          <a:xfrm>
            <a:off x="52900" y="514899"/>
            <a:ext cx="2640301" cy="61490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富邦-焦點" type="blank">
  <p:cSld name="BLANK">
    <p:spTree>
      <p:nvGrpSpPr>
        <p:cNvPr id="133" name="Shape 133"/>
        <p:cNvGrpSpPr/>
        <p:nvPr/>
      </p:nvGrpSpPr>
      <p:grpSpPr>
        <a:xfrm>
          <a:off x="0" y="0"/>
          <a:ext cx="0" cy="0"/>
          <a:chOff x="0" y="0"/>
          <a:chExt cx="0" cy="0"/>
        </a:xfrm>
      </p:grpSpPr>
      <p:sp>
        <p:nvSpPr>
          <p:cNvPr id="134" name="Google Shape;13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TW"/>
              <a:t>‹#›</a:t>
            </a:fld>
            <a:endParaRPr/>
          </a:p>
        </p:txBody>
      </p:sp>
      <p:pic>
        <p:nvPicPr>
          <p:cNvPr id="135" name="Google Shape;135;p12"/>
          <p:cNvPicPr preferRelativeResize="0"/>
          <p:nvPr/>
        </p:nvPicPr>
        <p:blipFill>
          <a:blip r:embed="rId2">
            <a:alphaModFix/>
          </a:blip>
          <a:stretch>
            <a:fillRect/>
          </a:stretch>
        </p:blipFill>
        <p:spPr>
          <a:xfrm>
            <a:off x="105800" y="4663225"/>
            <a:ext cx="1690072" cy="39360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1"/>
              </a:buClr>
              <a:buSzPts val="1300"/>
              <a:buFont typeface="Lato"/>
              <a:buChar char="●"/>
              <a:defRPr sz="1300">
                <a:solidFill>
                  <a:schemeClr val="dk1"/>
                </a:solidFill>
                <a:latin typeface="Lato"/>
                <a:ea typeface="Lato"/>
                <a:cs typeface="Lato"/>
                <a:sym typeface="Lato"/>
              </a:defRPr>
            </a:lvl1pPr>
            <a:lvl2pPr indent="-298450" lvl="1" marL="9144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2pPr>
            <a:lvl3pPr indent="-298450" lvl="2" marL="13716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3pPr>
            <a:lvl4pPr indent="-298450" lvl="3" marL="18288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4pPr>
            <a:lvl5pPr indent="-298450" lvl="4" marL="22860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5pPr>
            <a:lvl6pPr indent="-298450" lvl="5" marL="27432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6pPr>
            <a:lvl7pPr indent="-298450" lvl="6" marL="32004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7pPr>
            <a:lvl8pPr indent="-298450" lvl="7" marL="36576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8pPr>
            <a:lvl9pPr indent="-298450" lvl="8" marL="4114800">
              <a:lnSpc>
                <a:spcPct val="115000"/>
              </a:lnSpc>
              <a:spcBef>
                <a:spcPts val="0"/>
              </a:spcBef>
              <a:spcAft>
                <a:spcPts val="0"/>
              </a:spcAft>
              <a:buClr>
                <a:schemeClr val="dk1"/>
              </a:buClr>
              <a:buSzPts val="1100"/>
              <a:buFont typeface="Lato"/>
              <a:buChar char="■"/>
              <a:defRPr sz="1100">
                <a:solidFill>
                  <a:schemeClr val="dk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zh-T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3"/>
          <p:cNvSpPr txBox="1"/>
          <p:nvPr>
            <p:ph type="ctrTitle"/>
          </p:nvPr>
        </p:nvSpPr>
        <p:spPr>
          <a:xfrm>
            <a:off x="0" y="1956275"/>
            <a:ext cx="9144000" cy="1200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zh-TW">
                <a:solidFill>
                  <a:schemeClr val="dk1"/>
                </a:solidFill>
              </a:rPr>
              <a:t>程式交易實作</a:t>
            </a:r>
            <a:endParaRPr>
              <a:solidFill>
                <a:schemeClr val="dk1"/>
              </a:solidFill>
            </a:endParaRPr>
          </a:p>
        </p:txBody>
      </p:sp>
      <p:sp>
        <p:nvSpPr>
          <p:cNvPr id="141" name="Google Shape;141;p13"/>
          <p:cNvSpPr txBox="1"/>
          <p:nvPr>
            <p:ph idx="1" type="subTitle"/>
          </p:nvPr>
        </p:nvSpPr>
        <p:spPr>
          <a:xfrm>
            <a:off x="0" y="3416375"/>
            <a:ext cx="8554800" cy="506100"/>
          </a:xfrm>
          <a:prstGeom prst="rect">
            <a:avLst/>
          </a:prstGeom>
        </p:spPr>
        <p:txBody>
          <a:bodyPr anchorCtr="0" anchor="t" bIns="91425" lIns="91425" spcFirstLastPara="1" rIns="91425" wrap="square" tIns="91425">
            <a:normAutofit/>
          </a:bodyPr>
          <a:lstStyle/>
          <a:p>
            <a:pPr indent="0" lvl="0" marL="0" rtl="0" algn="r">
              <a:spcBef>
                <a:spcPts val="0"/>
              </a:spcBef>
              <a:spcAft>
                <a:spcPts val="0"/>
              </a:spcAft>
              <a:buNone/>
            </a:pPr>
            <a:r>
              <a:rPr lang="zh-TW" sz="1900"/>
              <a:t>打造台指選擇權回測平台</a:t>
            </a:r>
            <a:endParaRPr sz="1900">
              <a:solidFill>
                <a:schemeClr val="dk1"/>
              </a:solidFill>
            </a:endParaRPr>
          </a:p>
        </p:txBody>
      </p:sp>
      <p:sp>
        <p:nvSpPr>
          <p:cNvPr id="142" name="Google Shape;142;p13"/>
          <p:cNvSpPr txBox="1"/>
          <p:nvPr/>
        </p:nvSpPr>
        <p:spPr>
          <a:xfrm>
            <a:off x="6463350" y="4508250"/>
            <a:ext cx="2091300" cy="3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Lato"/>
                <a:ea typeface="Lato"/>
                <a:cs typeface="Lato"/>
                <a:sym typeface="Lato"/>
              </a:rPr>
              <a:t>林可翰 淡江大學 統計學系</a:t>
            </a:r>
            <a:endParaRPr sz="1300">
              <a:solidFill>
                <a:schemeClr val="dk1"/>
              </a:solidFill>
              <a:latin typeface="Lato"/>
              <a:ea typeface="Lato"/>
              <a:cs typeface="Lato"/>
              <a:sym typeface="Lato"/>
            </a:endParaRPr>
          </a:p>
        </p:txBody>
      </p:sp>
      <p:sp>
        <p:nvSpPr>
          <p:cNvPr id="143" name="Google Shape;143;p13"/>
          <p:cNvSpPr txBox="1"/>
          <p:nvPr/>
        </p:nvSpPr>
        <p:spPr>
          <a:xfrm>
            <a:off x="6151950" y="4181550"/>
            <a:ext cx="2402700" cy="3267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zh-TW" sz="1300">
                <a:solidFill>
                  <a:schemeClr val="dk1"/>
                </a:solidFill>
                <a:latin typeface="Lato"/>
                <a:ea typeface="Lato"/>
                <a:cs typeface="Lato"/>
                <a:sym typeface="Lato"/>
              </a:rPr>
              <a:t>期顧業務部</a:t>
            </a:r>
            <a:endParaRPr sz="1300">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4"/>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摘要</a:t>
            </a:r>
            <a:endParaRPr>
              <a:solidFill>
                <a:schemeClr val="dk1"/>
              </a:solidFill>
            </a:endParaRPr>
          </a:p>
        </p:txBody>
      </p:sp>
      <p:sp>
        <p:nvSpPr>
          <p:cNvPr id="149" name="Google Shape;149;p14"/>
          <p:cNvSpPr txBox="1"/>
          <p:nvPr>
            <p:ph idx="1" type="body"/>
          </p:nvPr>
        </p:nvSpPr>
        <p:spPr>
          <a:xfrm>
            <a:off x="1636375"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1900"/>
              <a:t>市面上缺少易取得的台指選擇權歷史資料供程式交易策略研究</a:t>
            </a:r>
            <a:br>
              <a:rPr lang="zh-TW" sz="1900"/>
            </a:br>
            <a:endParaRPr sz="1900"/>
          </a:p>
          <a:p>
            <a:pPr indent="0" lvl="0" marL="0" rtl="0" algn="l">
              <a:spcBef>
                <a:spcPts val="1200"/>
              </a:spcBef>
              <a:spcAft>
                <a:spcPts val="0"/>
              </a:spcAft>
              <a:buNone/>
            </a:pPr>
            <a:r>
              <a:rPr lang="zh-TW" sz="1900"/>
              <a:t>利用富邦新一代 API 串接資料、自建資料庫，解決此困境</a:t>
            </a:r>
            <a:br>
              <a:rPr lang="zh-TW" sz="1900"/>
            </a:br>
            <a:endParaRPr sz="1900"/>
          </a:p>
          <a:p>
            <a:pPr indent="0" lvl="0" marL="0" rtl="0" algn="l">
              <a:spcBef>
                <a:spcPts val="1200"/>
              </a:spcBef>
              <a:spcAft>
                <a:spcPts val="0"/>
              </a:spcAft>
              <a:buNone/>
            </a:pPr>
            <a:r>
              <a:rPr lang="zh-TW" sz="1900"/>
              <a:t>實作簡易回測平台，進行真實策略驗證，為實盤部署鋪路</a:t>
            </a:r>
            <a:endParaRPr sz="1900"/>
          </a:p>
          <a:p>
            <a:pPr indent="0" lvl="0" marL="0" rtl="0" algn="l">
              <a:spcBef>
                <a:spcPts val="1200"/>
              </a:spcBef>
              <a:spcAft>
                <a:spcPts val="1200"/>
              </a:spcAft>
              <a:buNone/>
            </a:pPr>
            <a:r>
              <a:t/>
            </a:r>
            <a:endParaRPr/>
          </a:p>
        </p:txBody>
      </p:sp>
      <p:sp>
        <p:nvSpPr>
          <p:cNvPr id="150" name="Google Shape;150;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相較於台指期，台指選的優勢</a:t>
            </a:r>
            <a:endParaRPr>
              <a:solidFill>
                <a:schemeClr val="dk1"/>
              </a:solidFill>
            </a:endParaRPr>
          </a:p>
        </p:txBody>
      </p:sp>
      <p:sp>
        <p:nvSpPr>
          <p:cNvPr id="156" name="Google Shape;156;p1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Clr>
                <a:srgbClr val="000000"/>
              </a:buClr>
              <a:buSzPts val="1300"/>
              <a:buFont typeface="Arial"/>
              <a:buNone/>
            </a:pPr>
            <a:r>
              <a:rPr lang="zh-TW">
                <a:solidFill>
                  <a:srgbClr val="000000"/>
                </a:solidFill>
                <a:latin typeface="Arial"/>
                <a:ea typeface="Arial"/>
                <a:cs typeface="Arial"/>
                <a:sym typeface="Arial"/>
              </a:rPr>
              <a:t> </a:t>
            </a:r>
            <a:endParaRPr>
              <a:solidFill>
                <a:srgbClr val="000000"/>
              </a:solidFill>
              <a:latin typeface="Arial"/>
              <a:ea typeface="Arial"/>
              <a:cs typeface="Arial"/>
              <a:sym typeface="Arial"/>
            </a:endParaRPr>
          </a:p>
        </p:txBody>
      </p:sp>
      <p:sp>
        <p:nvSpPr>
          <p:cNvPr id="157" name="Google Shape;15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solidFill>
                  <a:schemeClr val="dk1"/>
                </a:solidFill>
              </a:rPr>
              <a:t>‹#›</a:t>
            </a:fld>
            <a:endParaRPr>
              <a:solidFill>
                <a:schemeClr val="dk1"/>
              </a:solidFill>
            </a:endParaRPr>
          </a:p>
        </p:txBody>
      </p:sp>
      <p:graphicFrame>
        <p:nvGraphicFramePr>
          <p:cNvPr id="158" name="Google Shape;158;p15"/>
          <p:cNvGraphicFramePr/>
          <p:nvPr/>
        </p:nvGraphicFramePr>
        <p:xfrm>
          <a:off x="1432875" y="1903525"/>
          <a:ext cx="3000000" cy="3000000"/>
        </p:xfrm>
        <a:graphic>
          <a:graphicData uri="http://schemas.openxmlformats.org/drawingml/2006/table">
            <a:tbl>
              <a:tblPr>
                <a:noFill/>
                <a:tableStyleId>{DD419616-09A9-40A1-9AF6-436F3306581F}</a:tableStyleId>
              </a:tblPr>
              <a:tblGrid>
                <a:gridCol w="623025"/>
                <a:gridCol w="2305225"/>
                <a:gridCol w="3322850"/>
              </a:tblGrid>
              <a:tr h="490525">
                <a:tc>
                  <a:txBody>
                    <a:bodyPr/>
                    <a:lstStyle/>
                    <a:p>
                      <a:pPr indent="0" lvl="0" marL="0" rtl="0" algn="ctr">
                        <a:lnSpc>
                          <a:spcPct val="115000"/>
                        </a:lnSpc>
                        <a:spcBef>
                          <a:spcPts val="0"/>
                        </a:spcBef>
                        <a:spcAft>
                          <a:spcPts val="0"/>
                        </a:spcAft>
                        <a:buNone/>
                      </a:pPr>
                      <a:r>
                        <a:rPr lang="zh-TW" sz="1300"/>
                        <a:t>分類</a:t>
                      </a:r>
                      <a:endParaRPr sz="1300"/>
                    </a:p>
                  </a:txBody>
                  <a:tcPr marT="91425" marB="91425" marR="91425" marL="91425"/>
                </a:tc>
                <a:tc>
                  <a:txBody>
                    <a:bodyPr/>
                    <a:lstStyle/>
                    <a:p>
                      <a:pPr indent="0" lvl="0" marL="0" rtl="0" algn="ctr">
                        <a:lnSpc>
                          <a:spcPct val="115000"/>
                        </a:lnSpc>
                        <a:spcBef>
                          <a:spcPts val="0"/>
                        </a:spcBef>
                        <a:spcAft>
                          <a:spcPts val="0"/>
                        </a:spcAft>
                        <a:buNone/>
                      </a:pPr>
                      <a:r>
                        <a:rPr lang="zh-TW" sz="1300"/>
                        <a:t>台指期</a:t>
                      </a:r>
                      <a:endParaRPr sz="1300"/>
                    </a:p>
                  </a:txBody>
                  <a:tcPr marT="91425" marB="91425" marR="91425" marL="91425"/>
                </a:tc>
                <a:tc>
                  <a:txBody>
                    <a:bodyPr/>
                    <a:lstStyle/>
                    <a:p>
                      <a:pPr indent="0" lvl="0" marL="0" rtl="0" algn="ctr">
                        <a:lnSpc>
                          <a:spcPct val="115000"/>
                        </a:lnSpc>
                        <a:spcBef>
                          <a:spcPts val="0"/>
                        </a:spcBef>
                        <a:spcAft>
                          <a:spcPts val="0"/>
                        </a:spcAft>
                        <a:buNone/>
                      </a:pPr>
                      <a:r>
                        <a:rPr lang="zh-TW" sz="1300"/>
                        <a:t>台指選</a:t>
                      </a:r>
                      <a:endParaRPr sz="1300"/>
                    </a:p>
                  </a:txBody>
                  <a:tcPr marT="91425" marB="91425" marR="91425" marL="91425">
                    <a:solidFill>
                      <a:srgbClr val="FFF2CC"/>
                    </a:solidFill>
                  </a:tcPr>
                </a:tc>
              </a:tr>
              <a:tr h="694900">
                <a:tc>
                  <a:txBody>
                    <a:bodyPr/>
                    <a:lstStyle/>
                    <a:p>
                      <a:pPr indent="0" lvl="0" marL="0" rtl="0" algn="l">
                        <a:spcBef>
                          <a:spcPts val="0"/>
                        </a:spcBef>
                        <a:spcAft>
                          <a:spcPts val="0"/>
                        </a:spcAft>
                        <a:buNone/>
                      </a:pPr>
                      <a:r>
                        <a:rPr lang="zh-TW" sz="1300"/>
                        <a:t>風險</a:t>
                      </a:r>
                      <a:endParaRPr sz="1300"/>
                    </a:p>
                  </a:txBody>
                  <a:tcPr marT="91425" marB="91425" marR="91425" marL="91425"/>
                </a:tc>
                <a:tc>
                  <a:txBody>
                    <a:bodyPr/>
                    <a:lstStyle/>
                    <a:p>
                      <a:pPr indent="0" lvl="0" marL="0" rtl="0" algn="l">
                        <a:spcBef>
                          <a:spcPts val="0"/>
                        </a:spcBef>
                        <a:spcAft>
                          <a:spcPts val="0"/>
                        </a:spcAft>
                        <a:buNone/>
                      </a:pPr>
                      <a:r>
                        <a:rPr lang="zh-TW" sz="1300"/>
                        <a:t>損益無上限（槓桿大、方向明確）</a:t>
                      </a:r>
                      <a:endParaRPr sz="1300"/>
                    </a:p>
                  </a:txBody>
                  <a:tcPr marT="91425" marB="91425" marR="91425" marL="91425"/>
                </a:tc>
                <a:tc>
                  <a:txBody>
                    <a:bodyPr/>
                    <a:lstStyle/>
                    <a:p>
                      <a:pPr indent="0" lvl="0" marL="0" rtl="0" algn="l">
                        <a:spcBef>
                          <a:spcPts val="0"/>
                        </a:spcBef>
                        <a:spcAft>
                          <a:spcPts val="0"/>
                        </a:spcAft>
                        <a:buNone/>
                      </a:pPr>
                      <a:r>
                        <a:rPr lang="zh-TW" sz="1300"/>
                        <a:t>最大損失為權利金，風險可控</a:t>
                      </a:r>
                      <a:endParaRPr sz="1300"/>
                    </a:p>
                  </a:txBody>
                  <a:tcPr marT="91425" marB="91425" marR="91425" marL="91425">
                    <a:solidFill>
                      <a:srgbClr val="FFF2CC"/>
                    </a:solidFill>
                  </a:tcPr>
                </a:tc>
              </a:tr>
              <a:tr h="694900">
                <a:tc>
                  <a:txBody>
                    <a:bodyPr/>
                    <a:lstStyle/>
                    <a:p>
                      <a:pPr indent="0" lvl="0" marL="0" rtl="0" algn="l">
                        <a:spcBef>
                          <a:spcPts val="0"/>
                        </a:spcBef>
                        <a:spcAft>
                          <a:spcPts val="0"/>
                        </a:spcAft>
                        <a:buNone/>
                      </a:pPr>
                      <a:r>
                        <a:rPr lang="zh-TW" sz="1300"/>
                        <a:t>策略</a:t>
                      </a:r>
                      <a:endParaRPr sz="1300"/>
                    </a:p>
                  </a:txBody>
                  <a:tcPr marT="91425" marB="91425" marR="91425" marL="91425"/>
                </a:tc>
                <a:tc>
                  <a:txBody>
                    <a:bodyPr/>
                    <a:lstStyle/>
                    <a:p>
                      <a:pPr indent="0" lvl="0" marL="0" rtl="0" algn="l">
                        <a:spcBef>
                          <a:spcPts val="0"/>
                        </a:spcBef>
                        <a:spcAft>
                          <a:spcPts val="0"/>
                        </a:spcAft>
                        <a:buNone/>
                      </a:pPr>
                      <a:r>
                        <a:rPr lang="zh-TW" sz="1300"/>
                        <a:t>只能做多／做空</a:t>
                      </a:r>
                      <a:endParaRPr sz="1300"/>
                    </a:p>
                  </a:txBody>
                  <a:tcPr marT="91425" marB="91425" marR="91425" marL="91425"/>
                </a:tc>
                <a:tc>
                  <a:txBody>
                    <a:bodyPr/>
                    <a:lstStyle/>
                    <a:p>
                      <a:pPr indent="0" lvl="0" marL="0" rtl="0" algn="l">
                        <a:spcBef>
                          <a:spcPts val="0"/>
                        </a:spcBef>
                        <a:spcAft>
                          <a:spcPts val="0"/>
                        </a:spcAft>
                        <a:buNone/>
                      </a:pPr>
                      <a:r>
                        <a:rPr lang="zh-TW" sz="1300"/>
                        <a:t>可做多（買權）／做空（賣權）／區間（跨式等）</a:t>
                      </a:r>
                      <a:endParaRPr sz="1300"/>
                    </a:p>
                  </a:txBody>
                  <a:tcPr marT="91425" marB="91425" marR="91425" marL="91425">
                    <a:solidFill>
                      <a:srgbClr val="FFF2CC"/>
                    </a:solidFill>
                  </a:tcPr>
                </a:tc>
              </a:tr>
              <a:tr h="694900">
                <a:tc>
                  <a:txBody>
                    <a:bodyPr/>
                    <a:lstStyle/>
                    <a:p>
                      <a:pPr indent="0" lvl="0" marL="0" rtl="0" algn="l">
                        <a:spcBef>
                          <a:spcPts val="0"/>
                        </a:spcBef>
                        <a:spcAft>
                          <a:spcPts val="0"/>
                        </a:spcAft>
                        <a:buNone/>
                      </a:pPr>
                      <a:r>
                        <a:rPr lang="zh-TW" sz="1300"/>
                        <a:t>成本</a:t>
                      </a:r>
                      <a:endParaRPr sz="1300"/>
                    </a:p>
                  </a:txBody>
                  <a:tcPr marT="91425" marB="91425" marR="91425" marL="91425"/>
                </a:tc>
                <a:tc>
                  <a:txBody>
                    <a:bodyPr/>
                    <a:lstStyle/>
                    <a:p>
                      <a:pPr indent="0" lvl="0" marL="0" rtl="0" algn="l">
                        <a:spcBef>
                          <a:spcPts val="0"/>
                        </a:spcBef>
                        <a:spcAft>
                          <a:spcPts val="0"/>
                        </a:spcAft>
                        <a:buNone/>
                      </a:pPr>
                      <a:r>
                        <a:rPr lang="zh-TW" sz="1300"/>
                        <a:t>須繳交保證金（數萬元）</a:t>
                      </a:r>
                      <a:endParaRPr sz="1300"/>
                    </a:p>
                  </a:txBody>
                  <a:tcPr marT="91425" marB="91425" marR="91425" marL="91425"/>
                </a:tc>
                <a:tc>
                  <a:txBody>
                    <a:bodyPr/>
                    <a:lstStyle/>
                    <a:p>
                      <a:pPr indent="0" lvl="0" marL="0" rtl="0" algn="l">
                        <a:spcBef>
                          <a:spcPts val="0"/>
                        </a:spcBef>
                        <a:spcAft>
                          <a:spcPts val="0"/>
                        </a:spcAft>
                        <a:buNone/>
                      </a:pPr>
                      <a:r>
                        <a:rPr lang="zh-TW" sz="1300"/>
                        <a:t>僅需支付權利金（數百~千元），適合小資</a:t>
                      </a:r>
                      <a:endParaRPr sz="1300"/>
                    </a:p>
                  </a:txBody>
                  <a:tcPr marT="91425" marB="91425" marR="91425" marL="91425">
                    <a:solidFill>
                      <a:srgbClr val="FFF2CC"/>
                    </a:solidFill>
                  </a:tcPr>
                </a:tc>
              </a:tr>
            </a:tbl>
          </a:graphicData>
        </a:graphic>
      </p:graphicFrame>
      <p:sp>
        <p:nvSpPr>
          <p:cNvPr id="159" name="Google Shape;159;p15"/>
          <p:cNvSpPr txBox="1"/>
          <p:nvPr/>
        </p:nvSpPr>
        <p:spPr>
          <a:xfrm>
            <a:off x="1297500" y="1421700"/>
            <a:ext cx="6251100" cy="48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Lato"/>
                <a:ea typeface="Lato"/>
                <a:cs typeface="Lato"/>
                <a:sym typeface="Lato"/>
              </a:rPr>
              <a:t>台指選的策略</a:t>
            </a:r>
            <a:r>
              <a:rPr b="1" lang="zh-TW" sz="1300">
                <a:solidFill>
                  <a:schemeClr val="dk1"/>
                </a:solidFill>
                <a:latin typeface="Lato"/>
                <a:ea typeface="Lato"/>
                <a:cs typeface="Lato"/>
                <a:sym typeface="Lato"/>
              </a:rPr>
              <a:t>多樣性、複雜性</a:t>
            </a:r>
            <a:r>
              <a:rPr lang="zh-TW" sz="1300">
                <a:solidFill>
                  <a:schemeClr val="dk1"/>
                </a:solidFill>
                <a:latin typeface="Lato"/>
                <a:ea typeface="Lato"/>
                <a:cs typeface="Lato"/>
                <a:sym typeface="Lato"/>
              </a:rPr>
              <a:t>使得策略歷史驗證與模擬有更高的價值。</a:t>
            </a:r>
            <a:endParaRPr sz="1300">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市面上可取得</a:t>
            </a:r>
            <a:r>
              <a:rPr lang="zh-TW"/>
              <a:t>台指選</a:t>
            </a:r>
            <a:r>
              <a:rPr lang="zh-TW">
                <a:solidFill>
                  <a:schemeClr val="dk1"/>
                </a:solidFill>
              </a:rPr>
              <a:t>資料的限制-</a:t>
            </a:r>
            <a:r>
              <a:rPr lang="zh-TW"/>
              <a:t>台灣期交所資料</a:t>
            </a:r>
            <a:endParaRPr>
              <a:solidFill>
                <a:schemeClr val="dk1"/>
              </a:solidFill>
            </a:endParaRPr>
          </a:p>
        </p:txBody>
      </p:sp>
      <p:sp>
        <p:nvSpPr>
          <p:cNvPr id="165" name="Google Shape;165;p16"/>
          <p:cNvSpPr txBox="1"/>
          <p:nvPr>
            <p:ph idx="1" type="body"/>
          </p:nvPr>
        </p:nvSpPr>
        <p:spPr>
          <a:xfrm>
            <a:off x="1297500" y="1567550"/>
            <a:ext cx="3525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66" name="Google Shape;166;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67" name="Google Shape;167;p16"/>
          <p:cNvPicPr preferRelativeResize="0"/>
          <p:nvPr/>
        </p:nvPicPr>
        <p:blipFill>
          <a:blip r:embed="rId3">
            <a:alphaModFix/>
          </a:blip>
          <a:stretch>
            <a:fillRect/>
          </a:stretch>
        </p:blipFill>
        <p:spPr>
          <a:xfrm>
            <a:off x="665963" y="1307850"/>
            <a:ext cx="7812076" cy="33307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市面上可取得台指選資料的限制-yahoo股市資料</a:t>
            </a:r>
            <a:endParaRPr/>
          </a:p>
          <a:p>
            <a:pPr indent="0" lvl="0" marL="0" rtl="0" algn="l">
              <a:spcBef>
                <a:spcPts val="0"/>
              </a:spcBef>
              <a:spcAft>
                <a:spcPts val="0"/>
              </a:spcAft>
              <a:buNone/>
            </a:pPr>
            <a:r>
              <a:t/>
            </a:r>
            <a:endParaRPr/>
          </a:p>
        </p:txBody>
      </p:sp>
      <p:sp>
        <p:nvSpPr>
          <p:cNvPr id="173" name="Google Shape;173;p1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74" name="Google Shape;1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75" name="Google Shape;175;p17"/>
          <p:cNvPicPr preferRelativeResize="0"/>
          <p:nvPr/>
        </p:nvPicPr>
        <p:blipFill>
          <a:blip r:embed="rId3">
            <a:alphaModFix/>
          </a:blip>
          <a:stretch>
            <a:fillRect/>
          </a:stretch>
        </p:blipFill>
        <p:spPr>
          <a:xfrm>
            <a:off x="1357750" y="1059150"/>
            <a:ext cx="6514698" cy="3604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chemeClr val="dk1"/>
                </a:solidFill>
              </a:rPr>
              <a:t>市面上可取得</a:t>
            </a:r>
            <a:r>
              <a:rPr lang="zh-TW"/>
              <a:t>台指選</a:t>
            </a:r>
            <a:r>
              <a:rPr lang="zh-TW">
                <a:solidFill>
                  <a:schemeClr val="dk1"/>
                </a:solidFill>
              </a:rPr>
              <a:t>資料的限制</a:t>
            </a:r>
            <a:endParaRPr>
              <a:solidFill>
                <a:schemeClr val="dk1"/>
              </a:solidFill>
            </a:endParaRPr>
          </a:p>
        </p:txBody>
      </p:sp>
      <p:sp>
        <p:nvSpPr>
          <p:cNvPr id="181" name="Google Shape;181;p18"/>
          <p:cNvSpPr txBox="1"/>
          <p:nvPr>
            <p:ph idx="1" type="body"/>
          </p:nvPr>
        </p:nvSpPr>
        <p:spPr>
          <a:xfrm>
            <a:off x="1297500" y="1567550"/>
            <a:ext cx="35250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82" name="Google Shape;18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183" name="Google Shape;183;p18"/>
          <p:cNvGraphicFramePr/>
          <p:nvPr/>
        </p:nvGraphicFramePr>
        <p:xfrm>
          <a:off x="1429650" y="1137475"/>
          <a:ext cx="3000000" cy="3000000"/>
        </p:xfrm>
        <a:graphic>
          <a:graphicData uri="http://schemas.openxmlformats.org/drawingml/2006/table">
            <a:tbl>
              <a:tblPr>
                <a:noFill/>
                <a:tableStyleId>{DD419616-09A9-40A1-9AF6-436F3306581F}</a:tableStyleId>
              </a:tblPr>
              <a:tblGrid>
                <a:gridCol w="1459525"/>
                <a:gridCol w="1818700"/>
                <a:gridCol w="3006450"/>
              </a:tblGrid>
              <a:tr h="730200">
                <a:tc>
                  <a:txBody>
                    <a:bodyPr/>
                    <a:lstStyle/>
                    <a:p>
                      <a:pPr indent="0" lvl="0" marL="0" rtl="0" algn="ctr">
                        <a:lnSpc>
                          <a:spcPct val="115000"/>
                        </a:lnSpc>
                        <a:spcBef>
                          <a:spcPts val="0"/>
                        </a:spcBef>
                        <a:spcAft>
                          <a:spcPts val="0"/>
                        </a:spcAft>
                        <a:buNone/>
                      </a:pPr>
                      <a:r>
                        <a:rPr lang="zh-TW" sz="1800"/>
                        <a:t>資料</a:t>
                      </a:r>
                      <a:endParaRPr sz="1800"/>
                    </a:p>
                  </a:txBody>
                  <a:tcPr marT="91425" marB="91425" marR="91425" marL="91425"/>
                </a:tc>
                <a:tc>
                  <a:txBody>
                    <a:bodyPr/>
                    <a:lstStyle/>
                    <a:p>
                      <a:pPr indent="0" lvl="0" marL="0" rtl="0" algn="ctr">
                        <a:lnSpc>
                          <a:spcPct val="115000"/>
                        </a:lnSpc>
                        <a:spcBef>
                          <a:spcPts val="0"/>
                        </a:spcBef>
                        <a:spcAft>
                          <a:spcPts val="0"/>
                        </a:spcAft>
                        <a:buNone/>
                      </a:pPr>
                      <a:r>
                        <a:rPr lang="zh-TW" sz="1800"/>
                        <a:t>資料精度</a:t>
                      </a:r>
                      <a:endParaRPr sz="1800"/>
                    </a:p>
                  </a:txBody>
                  <a:tcPr marT="91425" marB="91425" marR="91425" marL="91425"/>
                </a:tc>
                <a:tc>
                  <a:txBody>
                    <a:bodyPr/>
                    <a:lstStyle/>
                    <a:p>
                      <a:pPr indent="0" lvl="0" marL="0" rtl="0" algn="ctr">
                        <a:lnSpc>
                          <a:spcPct val="115000"/>
                        </a:lnSpc>
                        <a:spcBef>
                          <a:spcPts val="0"/>
                        </a:spcBef>
                        <a:spcAft>
                          <a:spcPts val="0"/>
                        </a:spcAft>
                        <a:buNone/>
                      </a:pPr>
                      <a:r>
                        <a:rPr lang="zh-TW" sz="1800"/>
                        <a:t>限制</a:t>
                      </a:r>
                      <a:endParaRPr sz="1800"/>
                    </a:p>
                  </a:txBody>
                  <a:tcPr marT="91425" marB="91425" marR="91425" marL="91425"/>
                </a:tc>
              </a:tr>
              <a:tr h="667725">
                <a:tc>
                  <a:txBody>
                    <a:bodyPr/>
                    <a:lstStyle/>
                    <a:p>
                      <a:pPr indent="0" lvl="0" marL="0" rtl="0" algn="l">
                        <a:spcBef>
                          <a:spcPts val="0"/>
                        </a:spcBef>
                        <a:spcAft>
                          <a:spcPts val="0"/>
                        </a:spcAft>
                        <a:buNone/>
                      </a:pPr>
                      <a:r>
                        <a:rPr lang="zh-TW" sz="1800"/>
                        <a:t>台</a:t>
                      </a:r>
                      <a:r>
                        <a:rPr lang="zh-TW" sz="1800"/>
                        <a:t>灣</a:t>
                      </a:r>
                      <a:r>
                        <a:rPr lang="zh-TW" sz="1800"/>
                        <a:t>期</a:t>
                      </a:r>
                      <a:r>
                        <a:rPr lang="zh-TW" sz="1800"/>
                        <a:t>交</a:t>
                      </a:r>
                      <a:r>
                        <a:rPr lang="zh-TW" sz="1800"/>
                        <a:t>所</a:t>
                      </a:r>
                      <a:r>
                        <a:rPr lang="zh-TW" sz="1800"/>
                        <a:t>網站</a:t>
                      </a:r>
                      <a:endParaRPr sz="1800"/>
                    </a:p>
                  </a:txBody>
                  <a:tcPr marT="91425" marB="91425" marR="91425" marL="91425"/>
                </a:tc>
                <a:tc>
                  <a:txBody>
                    <a:bodyPr/>
                    <a:lstStyle/>
                    <a:p>
                      <a:pPr indent="0" lvl="0" marL="0" rtl="0" algn="l">
                        <a:spcBef>
                          <a:spcPts val="0"/>
                        </a:spcBef>
                        <a:spcAft>
                          <a:spcPts val="0"/>
                        </a:spcAft>
                        <a:buNone/>
                      </a:pPr>
                      <a:r>
                        <a:rPr lang="zh-TW" sz="1800"/>
                        <a:t>每日</a:t>
                      </a:r>
                      <a:r>
                        <a:rPr lang="zh-TW" sz="1800"/>
                        <a:t>行情</a:t>
                      </a:r>
                      <a:r>
                        <a:rPr lang="zh-TW" sz="1800"/>
                        <a:t>彙總</a:t>
                      </a:r>
                      <a:endParaRPr sz="1800"/>
                    </a:p>
                  </a:txBody>
                  <a:tcPr marT="91425" marB="91425" marR="91425" marL="91425"/>
                </a:tc>
                <a:tc>
                  <a:txBody>
                    <a:bodyPr/>
                    <a:lstStyle/>
                    <a:p>
                      <a:pPr indent="0" lvl="0" marL="0" rtl="0" algn="l">
                        <a:spcBef>
                          <a:spcPts val="0"/>
                        </a:spcBef>
                        <a:spcAft>
                          <a:spcPts val="0"/>
                        </a:spcAft>
                        <a:buNone/>
                      </a:pPr>
                      <a:r>
                        <a:rPr lang="zh-TW" sz="1800"/>
                        <a:t>免費但粗略</a:t>
                      </a:r>
                      <a:endParaRPr sz="1800"/>
                    </a:p>
                  </a:txBody>
                  <a:tcPr marT="91425" marB="91425" marR="91425" marL="91425"/>
                </a:tc>
              </a:tr>
              <a:tr h="667725">
                <a:tc>
                  <a:txBody>
                    <a:bodyPr/>
                    <a:lstStyle/>
                    <a:p>
                      <a:pPr indent="0" lvl="0" marL="0" rtl="0" algn="l">
                        <a:spcBef>
                          <a:spcPts val="0"/>
                        </a:spcBef>
                        <a:spcAft>
                          <a:spcPts val="0"/>
                        </a:spcAft>
                        <a:buNone/>
                      </a:pPr>
                      <a:r>
                        <a:rPr lang="zh-TW" sz="1800"/>
                        <a:t>第三方平台</a:t>
                      </a:r>
                      <a:endParaRPr sz="1800"/>
                    </a:p>
                  </a:txBody>
                  <a:tcPr marT="91425" marB="91425" marR="91425" marL="91425"/>
                </a:tc>
                <a:tc>
                  <a:txBody>
                    <a:bodyPr/>
                    <a:lstStyle/>
                    <a:p>
                      <a:pPr indent="0" lvl="0" marL="0" rtl="0" algn="l">
                        <a:spcBef>
                          <a:spcPts val="0"/>
                        </a:spcBef>
                        <a:spcAft>
                          <a:spcPts val="0"/>
                        </a:spcAft>
                        <a:buNone/>
                      </a:pPr>
                      <a:r>
                        <a:rPr lang="zh-TW" sz="1800"/>
                        <a:t>延遲的行情內容</a:t>
                      </a:r>
                      <a:endParaRPr sz="1800"/>
                    </a:p>
                  </a:txBody>
                  <a:tcPr marT="91425" marB="91425" marR="91425" marL="91425"/>
                </a:tc>
                <a:tc>
                  <a:txBody>
                    <a:bodyPr/>
                    <a:lstStyle/>
                    <a:p>
                      <a:pPr indent="0" lvl="0" marL="0" rtl="0" algn="l">
                        <a:spcBef>
                          <a:spcPts val="0"/>
                        </a:spcBef>
                        <a:spcAft>
                          <a:spcPts val="0"/>
                        </a:spcAft>
                        <a:buNone/>
                      </a:pPr>
                      <a:r>
                        <a:rPr lang="zh-TW" sz="1800"/>
                        <a:t>多為收費</a:t>
                      </a:r>
                      <a:r>
                        <a:rPr lang="zh-TW" sz="1800"/>
                        <a:t>或不易取得</a:t>
                      </a:r>
                      <a:endParaRPr sz="1800"/>
                    </a:p>
                  </a:txBody>
                  <a:tcPr marT="91425" marB="91425" marR="91425" marL="91425"/>
                </a:tc>
              </a:tr>
              <a:tr h="667725">
                <a:tc>
                  <a:txBody>
                    <a:bodyPr/>
                    <a:lstStyle/>
                    <a:p>
                      <a:pPr indent="0" lvl="0" marL="0" rtl="0" algn="l">
                        <a:spcBef>
                          <a:spcPts val="0"/>
                        </a:spcBef>
                        <a:spcAft>
                          <a:spcPts val="0"/>
                        </a:spcAft>
                        <a:buNone/>
                      </a:pPr>
                      <a:r>
                        <a:rPr lang="zh-TW" sz="1800"/>
                        <a:t>富邦新一代API</a:t>
                      </a:r>
                      <a:endParaRPr sz="1800"/>
                    </a:p>
                  </a:txBody>
                  <a:tcPr marT="91425" marB="91425" marR="91425" marL="91425">
                    <a:solidFill>
                      <a:srgbClr val="FFF2CC"/>
                    </a:solidFill>
                  </a:tcPr>
                </a:tc>
                <a:tc>
                  <a:txBody>
                    <a:bodyPr/>
                    <a:lstStyle/>
                    <a:p>
                      <a:pPr indent="0" lvl="0" marL="0" rtl="0" algn="l">
                        <a:spcBef>
                          <a:spcPts val="0"/>
                        </a:spcBef>
                        <a:spcAft>
                          <a:spcPts val="0"/>
                        </a:spcAft>
                        <a:buNone/>
                      </a:pPr>
                      <a:r>
                        <a:rPr lang="zh-TW" sz="1800"/>
                        <a:t>今日</a:t>
                      </a:r>
                      <a:r>
                        <a:rPr lang="zh-TW" sz="1800"/>
                        <a:t>分K行情</a:t>
                      </a:r>
                      <a:endParaRPr sz="1800"/>
                    </a:p>
                  </a:txBody>
                  <a:tcPr marT="91425" marB="91425" marR="91425" marL="91425">
                    <a:solidFill>
                      <a:srgbClr val="FFF2CC"/>
                    </a:solidFill>
                  </a:tcPr>
                </a:tc>
                <a:tc>
                  <a:txBody>
                    <a:bodyPr/>
                    <a:lstStyle/>
                    <a:p>
                      <a:pPr indent="0" lvl="0" marL="0" rtl="0" algn="l">
                        <a:spcBef>
                          <a:spcPts val="0"/>
                        </a:spcBef>
                        <a:spcAft>
                          <a:spcPts val="0"/>
                        </a:spcAft>
                        <a:buNone/>
                      </a:pPr>
                      <a:r>
                        <a:rPr lang="zh-TW" sz="1800"/>
                        <a:t>須撰寫程式抓取</a:t>
                      </a:r>
                      <a:r>
                        <a:rPr lang="zh-TW" sz="1800"/>
                        <a:t>，</a:t>
                      </a:r>
                      <a:r>
                        <a:rPr lang="zh-TW" sz="1800"/>
                        <a:t>且</a:t>
                      </a:r>
                      <a:r>
                        <a:rPr lang="zh-TW" sz="1800"/>
                        <a:t>須自行儲存</a:t>
                      </a:r>
                      <a:endParaRPr sz="1800"/>
                    </a:p>
                  </a:txBody>
                  <a:tcPr marT="91425" marB="91425" marR="91425" marL="91425">
                    <a:solidFill>
                      <a:srgbClr val="FFF2CC"/>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富邦新一代API </a:t>
            </a:r>
            <a:endParaRPr/>
          </a:p>
          <a:p>
            <a:pPr indent="0" lvl="0" marL="0" rtl="0" algn="l">
              <a:spcBef>
                <a:spcPts val="0"/>
              </a:spcBef>
              <a:spcAft>
                <a:spcPts val="0"/>
              </a:spcAft>
              <a:buNone/>
            </a:pPr>
            <a:r>
              <a:t/>
            </a:r>
            <a:endParaRPr/>
          </a:p>
        </p:txBody>
      </p:sp>
      <p:sp>
        <p:nvSpPr>
          <p:cNvPr id="189" name="Google Shape;189;p1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190" name="Google Shape;190;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191" name="Google Shape;191;p19"/>
          <p:cNvPicPr preferRelativeResize="0"/>
          <p:nvPr/>
        </p:nvPicPr>
        <p:blipFill rotWithShape="1">
          <a:blip r:embed="rId3">
            <a:alphaModFix/>
          </a:blip>
          <a:srcRect b="0" l="0" r="1719" t="0"/>
          <a:stretch/>
        </p:blipFill>
        <p:spPr>
          <a:xfrm>
            <a:off x="4407450" y="878700"/>
            <a:ext cx="3060600" cy="3763000"/>
          </a:xfrm>
          <a:prstGeom prst="rect">
            <a:avLst/>
          </a:prstGeom>
          <a:noFill/>
          <a:ln>
            <a:noFill/>
          </a:ln>
        </p:spPr>
      </p:pic>
      <p:pic>
        <p:nvPicPr>
          <p:cNvPr id="192" name="Google Shape;192;p19"/>
          <p:cNvPicPr preferRelativeResize="0"/>
          <p:nvPr/>
        </p:nvPicPr>
        <p:blipFill>
          <a:blip r:embed="rId4">
            <a:alphaModFix/>
          </a:blip>
          <a:stretch>
            <a:fillRect/>
          </a:stretch>
        </p:blipFill>
        <p:spPr>
          <a:xfrm>
            <a:off x="1297500" y="878698"/>
            <a:ext cx="3109950" cy="3784528"/>
          </a:xfrm>
          <a:prstGeom prst="rect">
            <a:avLst/>
          </a:prstGeom>
          <a:noFill/>
          <a:ln>
            <a:noFill/>
          </a:ln>
        </p:spPr>
      </p:pic>
      <p:sp>
        <p:nvSpPr>
          <p:cNvPr id="193" name="Google Shape;193;p19"/>
          <p:cNvSpPr/>
          <p:nvPr/>
        </p:nvSpPr>
        <p:spPr>
          <a:xfrm>
            <a:off x="4445950" y="1567550"/>
            <a:ext cx="1317900" cy="1059000"/>
          </a:xfrm>
          <a:prstGeom prst="frame">
            <a:avLst>
              <a:gd fmla="val 4979"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4" name="Google Shape;194;p19"/>
          <p:cNvSpPr/>
          <p:nvPr/>
        </p:nvSpPr>
        <p:spPr>
          <a:xfrm>
            <a:off x="6388900" y="1114625"/>
            <a:ext cx="927900" cy="361500"/>
          </a:xfrm>
          <a:prstGeom prst="frame">
            <a:avLst>
              <a:gd fmla="val 1250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5" name="Google Shape;195;p19"/>
          <p:cNvSpPr/>
          <p:nvPr/>
        </p:nvSpPr>
        <p:spPr>
          <a:xfrm>
            <a:off x="3338950" y="1307850"/>
            <a:ext cx="975000" cy="361500"/>
          </a:xfrm>
          <a:prstGeom prst="frame">
            <a:avLst>
              <a:gd fmla="val 1250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6" name="Google Shape;196;p19"/>
          <p:cNvSpPr/>
          <p:nvPr/>
        </p:nvSpPr>
        <p:spPr>
          <a:xfrm>
            <a:off x="1297500" y="1567550"/>
            <a:ext cx="1416300" cy="757800"/>
          </a:xfrm>
          <a:prstGeom prst="frame">
            <a:avLst>
              <a:gd fmla="val 6345"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97" name="Google Shape;197;p19"/>
          <p:cNvSpPr txBox="1"/>
          <p:nvPr/>
        </p:nvSpPr>
        <p:spPr>
          <a:xfrm>
            <a:off x="5641800" y="922950"/>
            <a:ext cx="591900" cy="3849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300">
                <a:solidFill>
                  <a:schemeClr val="dk1"/>
                </a:solidFill>
                <a:latin typeface="Lato"/>
                <a:ea typeface="Lato"/>
                <a:cs typeface="Lato"/>
                <a:sym typeface="Lato"/>
              </a:rPr>
              <a:t>證券</a:t>
            </a:r>
            <a:endParaRPr/>
          </a:p>
        </p:txBody>
      </p:sp>
      <p:sp>
        <p:nvSpPr>
          <p:cNvPr id="198" name="Google Shape;198;p19"/>
          <p:cNvSpPr txBox="1"/>
          <p:nvPr/>
        </p:nvSpPr>
        <p:spPr>
          <a:xfrm>
            <a:off x="2556525" y="922950"/>
            <a:ext cx="591900" cy="384900"/>
          </a:xfrm>
          <a:prstGeom prst="rect">
            <a:avLst/>
          </a:prstGeom>
          <a:solidFill>
            <a:srgbClr val="D0E0E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zh-TW" sz="1300">
                <a:solidFill>
                  <a:schemeClr val="dk1"/>
                </a:solidFill>
                <a:latin typeface="Lato"/>
                <a:ea typeface="Lato"/>
                <a:cs typeface="Lato"/>
                <a:sym typeface="Lato"/>
              </a:rPr>
              <a:t>期貨</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富邦新一代API</a:t>
            </a:r>
            <a:endParaRPr/>
          </a:p>
        </p:txBody>
      </p:sp>
      <p:sp>
        <p:nvSpPr>
          <p:cNvPr id="204" name="Google Shape;204;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graphicFrame>
        <p:nvGraphicFramePr>
          <p:cNvPr id="205" name="Google Shape;205;p20"/>
          <p:cNvGraphicFramePr/>
          <p:nvPr/>
        </p:nvGraphicFramePr>
        <p:xfrm>
          <a:off x="1085600" y="1474538"/>
          <a:ext cx="3000000" cy="3000000"/>
        </p:xfrm>
        <a:graphic>
          <a:graphicData uri="http://schemas.openxmlformats.org/drawingml/2006/table">
            <a:tbl>
              <a:tblPr>
                <a:noFill/>
                <a:tableStyleId>{AAE8E5BE-CA71-47E5-B055-A034FCC924C4}</a:tableStyleId>
              </a:tblPr>
              <a:tblGrid>
                <a:gridCol w="1658650"/>
                <a:gridCol w="1658650"/>
                <a:gridCol w="1658650"/>
                <a:gridCol w="1996850"/>
              </a:tblGrid>
              <a:tr h="360625">
                <a:tc>
                  <a:txBody>
                    <a:bodyPr/>
                    <a:lstStyle/>
                    <a:p>
                      <a:pPr indent="0" lvl="0" marL="0" rtl="0" algn="l">
                        <a:spcBef>
                          <a:spcPts val="0"/>
                        </a:spcBef>
                        <a:spcAft>
                          <a:spcPts val="0"/>
                        </a:spcAft>
                        <a:buNone/>
                      </a:pPr>
                      <a:r>
                        <a:rPr lang="zh-TW" sz="1800"/>
                        <a:t>API類型</a:t>
                      </a:r>
                      <a:endParaRPr sz="1800"/>
                    </a:p>
                  </a:txBody>
                  <a:tcPr marT="91425" marB="91425" marR="91425" marL="91425"/>
                </a:tc>
                <a:tc>
                  <a:txBody>
                    <a:bodyPr/>
                    <a:lstStyle/>
                    <a:p>
                      <a:pPr indent="0" lvl="0" marL="0" rtl="0" algn="l">
                        <a:spcBef>
                          <a:spcPts val="0"/>
                        </a:spcBef>
                        <a:spcAft>
                          <a:spcPts val="0"/>
                        </a:spcAft>
                        <a:buNone/>
                      </a:pPr>
                      <a:r>
                        <a:rPr lang="zh-TW" sz="1800"/>
                        <a:t>行情內容</a:t>
                      </a:r>
                      <a:endParaRPr sz="1800"/>
                    </a:p>
                  </a:txBody>
                  <a:tcPr marT="91425" marB="91425" marR="91425" marL="91425"/>
                </a:tc>
                <a:tc>
                  <a:txBody>
                    <a:bodyPr/>
                    <a:lstStyle/>
                    <a:p>
                      <a:pPr indent="0" lvl="0" marL="0" rtl="0" algn="l">
                        <a:spcBef>
                          <a:spcPts val="0"/>
                        </a:spcBef>
                        <a:spcAft>
                          <a:spcPts val="0"/>
                        </a:spcAft>
                        <a:buNone/>
                      </a:pPr>
                      <a:r>
                        <a:rPr lang="zh-TW" sz="1800"/>
                        <a:t>傳輸效率</a:t>
                      </a:r>
                      <a:endParaRPr sz="1800"/>
                    </a:p>
                  </a:txBody>
                  <a:tcPr marT="91425" marB="91425" marR="91425" marL="91425"/>
                </a:tc>
                <a:tc>
                  <a:txBody>
                    <a:bodyPr/>
                    <a:lstStyle/>
                    <a:p>
                      <a:pPr indent="0" lvl="0" marL="0" rtl="0" algn="l">
                        <a:spcBef>
                          <a:spcPts val="0"/>
                        </a:spcBef>
                        <a:spcAft>
                          <a:spcPts val="0"/>
                        </a:spcAft>
                        <a:buNone/>
                      </a:pPr>
                      <a:r>
                        <a:rPr lang="zh-TW" sz="1800"/>
                        <a:t>資料使用場景</a:t>
                      </a:r>
                      <a:endParaRPr sz="1800"/>
                    </a:p>
                  </a:txBody>
                  <a:tcPr marT="91425" marB="91425" marR="91425" marL="91425"/>
                </a:tc>
              </a:tr>
              <a:tr h="381000">
                <a:tc>
                  <a:txBody>
                    <a:bodyPr/>
                    <a:lstStyle/>
                    <a:p>
                      <a:pPr indent="0" lvl="0" marL="0" rtl="0" algn="l">
                        <a:lnSpc>
                          <a:spcPct val="115000"/>
                        </a:lnSpc>
                        <a:spcBef>
                          <a:spcPts val="0"/>
                        </a:spcBef>
                        <a:spcAft>
                          <a:spcPts val="1200"/>
                        </a:spcAft>
                        <a:buNone/>
                      </a:pPr>
                      <a:r>
                        <a:rPr lang="zh-TW" sz="1800">
                          <a:solidFill>
                            <a:schemeClr val="dk1"/>
                          </a:solidFill>
                          <a:latin typeface="Lato"/>
                          <a:ea typeface="Lato"/>
                          <a:cs typeface="Lato"/>
                          <a:sym typeface="Lato"/>
                        </a:rPr>
                        <a:t>Web API </a:t>
                      </a:r>
                      <a:endParaRPr sz="1800"/>
                    </a:p>
                  </a:txBody>
                  <a:tcPr marT="91425" marB="91425" marR="91425" marL="91425">
                    <a:solidFill>
                      <a:srgbClr val="FFF2CC"/>
                    </a:solidFill>
                  </a:tcPr>
                </a:tc>
                <a:tc>
                  <a:txBody>
                    <a:bodyPr/>
                    <a:lstStyle/>
                    <a:p>
                      <a:pPr indent="0" lvl="0" marL="0" rtl="0" algn="l">
                        <a:lnSpc>
                          <a:spcPct val="115000"/>
                        </a:lnSpc>
                        <a:spcBef>
                          <a:spcPts val="0"/>
                        </a:spcBef>
                        <a:spcAft>
                          <a:spcPts val="1200"/>
                        </a:spcAft>
                        <a:buNone/>
                      </a:pPr>
                      <a:r>
                        <a:rPr lang="zh-TW" sz="1800">
                          <a:solidFill>
                            <a:schemeClr val="dk1"/>
                          </a:solidFill>
                          <a:latin typeface="Lato"/>
                          <a:ea typeface="Lato"/>
                          <a:cs typeface="Lato"/>
                          <a:sym typeface="Lato"/>
                        </a:rPr>
                        <a:t>日內行情</a:t>
                      </a:r>
                      <a:endParaRPr sz="1800"/>
                    </a:p>
                  </a:txBody>
                  <a:tcPr marT="91425" marB="91425" marR="91425" marL="91425">
                    <a:solidFill>
                      <a:srgbClr val="FFF2CC"/>
                    </a:solidFill>
                  </a:tcPr>
                </a:tc>
                <a:tc>
                  <a:txBody>
                    <a:bodyPr/>
                    <a:lstStyle/>
                    <a:p>
                      <a:pPr indent="0" lvl="0" marL="0" rtl="0" algn="l">
                        <a:spcBef>
                          <a:spcPts val="0"/>
                        </a:spcBef>
                        <a:spcAft>
                          <a:spcPts val="0"/>
                        </a:spcAft>
                        <a:buNone/>
                      </a:pPr>
                      <a:r>
                        <a:rPr lang="zh-TW" sz="1800"/>
                        <a:t>較低：每筆資料都需重連</a:t>
                      </a:r>
                      <a:endParaRPr sz="1800"/>
                    </a:p>
                  </a:txBody>
                  <a:tcPr marT="91425" marB="91425" marR="91425" marL="91425">
                    <a:solidFill>
                      <a:srgbClr val="FFF2CC"/>
                    </a:solidFill>
                  </a:tcPr>
                </a:tc>
                <a:tc>
                  <a:txBody>
                    <a:bodyPr/>
                    <a:lstStyle/>
                    <a:p>
                      <a:pPr indent="0" lvl="0" marL="0" rtl="0" algn="l">
                        <a:spcBef>
                          <a:spcPts val="0"/>
                        </a:spcBef>
                        <a:spcAft>
                          <a:spcPts val="0"/>
                        </a:spcAft>
                        <a:buNone/>
                      </a:pPr>
                      <a:r>
                        <a:rPr lang="zh-TW" sz="1800"/>
                        <a:t>查詢資料、下單指令、歷史資料</a:t>
                      </a:r>
                      <a:endParaRPr sz="1800"/>
                    </a:p>
                  </a:txBody>
                  <a:tcPr marT="91425" marB="91425" marR="91425" marL="91425">
                    <a:solidFill>
                      <a:srgbClr val="FFF2CC"/>
                    </a:solidFill>
                  </a:tcPr>
                </a:tc>
              </a:tr>
              <a:tr h="381000">
                <a:tc>
                  <a:txBody>
                    <a:bodyPr/>
                    <a:lstStyle/>
                    <a:p>
                      <a:pPr indent="0" lvl="0" marL="0" rtl="0" algn="l">
                        <a:lnSpc>
                          <a:spcPct val="115000"/>
                        </a:lnSpc>
                        <a:spcBef>
                          <a:spcPts val="0"/>
                        </a:spcBef>
                        <a:spcAft>
                          <a:spcPts val="1200"/>
                        </a:spcAft>
                        <a:buNone/>
                      </a:pPr>
                      <a:r>
                        <a:rPr lang="zh-TW" sz="1800">
                          <a:solidFill>
                            <a:schemeClr val="dk1"/>
                          </a:solidFill>
                          <a:latin typeface="Lato"/>
                          <a:ea typeface="Lato"/>
                          <a:cs typeface="Lato"/>
                          <a:sym typeface="Lato"/>
                        </a:rPr>
                        <a:t>WebSocket API</a:t>
                      </a:r>
                      <a:endParaRPr sz="1800"/>
                    </a:p>
                  </a:txBody>
                  <a:tcPr marT="91425" marB="91425" marR="91425" marL="91425"/>
                </a:tc>
                <a:tc>
                  <a:txBody>
                    <a:bodyPr/>
                    <a:lstStyle/>
                    <a:p>
                      <a:pPr indent="0" lvl="0" marL="0" rtl="0" algn="l">
                        <a:lnSpc>
                          <a:spcPct val="115000"/>
                        </a:lnSpc>
                        <a:spcBef>
                          <a:spcPts val="0"/>
                        </a:spcBef>
                        <a:spcAft>
                          <a:spcPts val="1200"/>
                        </a:spcAft>
                        <a:buNone/>
                      </a:pPr>
                      <a:r>
                        <a:rPr lang="zh-TW" sz="1800">
                          <a:solidFill>
                            <a:schemeClr val="dk1"/>
                          </a:solidFill>
                          <a:latin typeface="Lato"/>
                          <a:ea typeface="Lato"/>
                          <a:cs typeface="Lato"/>
                          <a:sym typeface="Lato"/>
                        </a:rPr>
                        <a:t>即時行情</a:t>
                      </a:r>
                      <a:endParaRPr sz="1800"/>
                    </a:p>
                  </a:txBody>
                  <a:tcPr marT="91425" marB="91425" marR="91425" marL="91425"/>
                </a:tc>
                <a:tc>
                  <a:txBody>
                    <a:bodyPr/>
                    <a:lstStyle/>
                    <a:p>
                      <a:pPr indent="0" lvl="0" marL="0" rtl="0" algn="l">
                        <a:spcBef>
                          <a:spcPts val="0"/>
                        </a:spcBef>
                        <a:spcAft>
                          <a:spcPts val="0"/>
                        </a:spcAft>
                        <a:buNone/>
                      </a:pPr>
                      <a:r>
                        <a:rPr lang="zh-TW" sz="1800"/>
                        <a:t>較高：一次連線可持續接收</a:t>
                      </a:r>
                      <a:endParaRPr sz="1800"/>
                    </a:p>
                  </a:txBody>
                  <a:tcPr marT="91425" marB="91425" marR="91425" marL="91425"/>
                </a:tc>
                <a:tc>
                  <a:txBody>
                    <a:bodyPr/>
                    <a:lstStyle/>
                    <a:p>
                      <a:pPr indent="0" lvl="0" marL="0" rtl="0" algn="l">
                        <a:spcBef>
                          <a:spcPts val="0"/>
                        </a:spcBef>
                        <a:spcAft>
                          <a:spcPts val="0"/>
                        </a:spcAft>
                        <a:buNone/>
                      </a:pPr>
                      <a:r>
                        <a:rPr lang="zh-TW" sz="1800"/>
                        <a:t>即時行情、即時回報、監控多檔行情</a:t>
                      </a:r>
                      <a:endParaRPr sz="1800"/>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1"/>
          <p:cNvSpPr txBox="1"/>
          <p:nvPr>
            <p:ph type="title"/>
          </p:nvPr>
        </p:nvSpPr>
        <p:spPr>
          <a:xfrm>
            <a:off x="1297500" y="3935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程式結構</a:t>
            </a:r>
            <a:endParaRPr/>
          </a:p>
        </p:txBody>
      </p:sp>
      <p:sp>
        <p:nvSpPr>
          <p:cNvPr id="211" name="Google Shape;211;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12" name="Google Shape;212;p21"/>
          <p:cNvSpPr/>
          <p:nvPr/>
        </p:nvSpPr>
        <p:spPr>
          <a:xfrm>
            <a:off x="1524025" y="16324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API連線</a:t>
            </a:r>
            <a:endParaRPr>
              <a:latin typeface="Lato"/>
              <a:ea typeface="Lato"/>
              <a:cs typeface="Lato"/>
              <a:sym typeface="Lato"/>
            </a:endParaRPr>
          </a:p>
        </p:txBody>
      </p:sp>
      <p:sp>
        <p:nvSpPr>
          <p:cNvPr id="213" name="Google Shape;213;p21"/>
          <p:cNvSpPr/>
          <p:nvPr/>
        </p:nvSpPr>
        <p:spPr>
          <a:xfrm>
            <a:off x="3075375" y="18348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4" name="Google Shape;214;p21"/>
          <p:cNvSpPr/>
          <p:nvPr/>
        </p:nvSpPr>
        <p:spPr>
          <a:xfrm>
            <a:off x="3789725" y="16324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台指選商品代碼篩選</a:t>
            </a:r>
            <a:endParaRPr>
              <a:latin typeface="Lato"/>
              <a:ea typeface="Lato"/>
              <a:cs typeface="Lato"/>
              <a:sym typeface="Lato"/>
            </a:endParaRPr>
          </a:p>
        </p:txBody>
      </p:sp>
      <p:sp>
        <p:nvSpPr>
          <p:cNvPr id="215" name="Google Shape;215;p21"/>
          <p:cNvSpPr/>
          <p:nvPr/>
        </p:nvSpPr>
        <p:spPr>
          <a:xfrm>
            <a:off x="5341075" y="18348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6" name="Google Shape;216;p21"/>
          <p:cNvSpPr/>
          <p:nvPr/>
        </p:nvSpPr>
        <p:spPr>
          <a:xfrm>
            <a:off x="6055425" y="16324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最近到期契約</a:t>
            </a:r>
            <a:r>
              <a:rPr lang="zh-TW">
                <a:latin typeface="Lato"/>
                <a:ea typeface="Lato"/>
                <a:cs typeface="Lato"/>
                <a:sym typeface="Lato"/>
              </a:rPr>
              <a:t>商品代碼篩選</a:t>
            </a:r>
            <a:endParaRPr>
              <a:latin typeface="Lato"/>
              <a:ea typeface="Lato"/>
              <a:cs typeface="Lato"/>
              <a:sym typeface="Lato"/>
            </a:endParaRPr>
          </a:p>
        </p:txBody>
      </p:sp>
      <p:sp>
        <p:nvSpPr>
          <p:cNvPr id="217" name="Google Shape;217;p21"/>
          <p:cNvSpPr/>
          <p:nvPr/>
        </p:nvSpPr>
        <p:spPr>
          <a:xfrm rot="5400000">
            <a:off x="6473925" y="262775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18" name="Google Shape;218;p21"/>
          <p:cNvSpPr/>
          <p:nvPr/>
        </p:nvSpPr>
        <p:spPr>
          <a:xfrm>
            <a:off x="6055425" y="32183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資料庫架構預備</a:t>
            </a:r>
            <a:endParaRPr>
              <a:latin typeface="Lato"/>
              <a:ea typeface="Lato"/>
              <a:cs typeface="Lato"/>
              <a:sym typeface="Lato"/>
            </a:endParaRPr>
          </a:p>
        </p:txBody>
      </p:sp>
      <p:sp>
        <p:nvSpPr>
          <p:cNvPr id="219" name="Google Shape;219;p21"/>
          <p:cNvSpPr/>
          <p:nvPr/>
        </p:nvSpPr>
        <p:spPr>
          <a:xfrm flipH="1">
            <a:off x="5341075" y="34207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0" name="Google Shape;220;p21"/>
          <p:cNvSpPr/>
          <p:nvPr/>
        </p:nvSpPr>
        <p:spPr>
          <a:xfrm>
            <a:off x="3789725" y="32183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請求行情資料存入資料庫</a:t>
            </a:r>
            <a:endParaRPr>
              <a:latin typeface="Lato"/>
              <a:ea typeface="Lato"/>
              <a:cs typeface="Lato"/>
              <a:sym typeface="Lato"/>
            </a:endParaRPr>
          </a:p>
        </p:txBody>
      </p:sp>
      <p:sp>
        <p:nvSpPr>
          <p:cNvPr id="221" name="Google Shape;221;p21"/>
          <p:cNvSpPr/>
          <p:nvPr/>
        </p:nvSpPr>
        <p:spPr>
          <a:xfrm flipH="1">
            <a:off x="3075375" y="34207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22" name="Google Shape;222;p21"/>
          <p:cNvSpPr/>
          <p:nvPr/>
        </p:nvSpPr>
        <p:spPr>
          <a:xfrm>
            <a:off x="1207825" y="3106900"/>
            <a:ext cx="1701900" cy="1021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每一履約價下，</a:t>
            </a:r>
            <a:r>
              <a:rPr lang="zh-TW">
                <a:latin typeface="Lato"/>
                <a:ea typeface="Lato"/>
                <a:cs typeface="Lato"/>
                <a:sym typeface="Lato"/>
              </a:rPr>
              <a:t>形成</a:t>
            </a:r>
            <a:r>
              <a:rPr lang="zh-TW">
                <a:latin typeface="Lato"/>
                <a:ea typeface="Lato"/>
                <a:cs typeface="Lato"/>
                <a:sym typeface="Lato"/>
              </a:rPr>
              <a:t>買、賣權</a:t>
            </a:r>
            <a:endParaRPr>
              <a:latin typeface="Lato"/>
              <a:ea typeface="Lato"/>
              <a:cs typeface="Lato"/>
              <a:sym typeface="Lato"/>
            </a:endParaRPr>
          </a:p>
          <a:p>
            <a:pPr indent="0" lvl="0" marL="0" rtl="0" algn="ctr">
              <a:spcBef>
                <a:spcPts val="0"/>
              </a:spcBef>
              <a:spcAft>
                <a:spcPts val="0"/>
              </a:spcAft>
              <a:buNone/>
            </a:pPr>
            <a:r>
              <a:rPr lang="zh-TW">
                <a:latin typeface="Lato"/>
                <a:ea typeface="Lato"/>
                <a:cs typeface="Lato"/>
                <a:sym typeface="Lato"/>
              </a:rPr>
              <a:t>一分K行情資料表</a:t>
            </a:r>
            <a:endParaRPr>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程式結構</a:t>
            </a:r>
            <a:r>
              <a:rPr lang="zh-TW"/>
              <a:t>-</a:t>
            </a:r>
            <a:r>
              <a:rPr lang="zh-TW">
                <a:solidFill>
                  <a:srgbClr val="000000"/>
                </a:solidFill>
                <a:latin typeface="Lato"/>
                <a:ea typeface="Lato"/>
                <a:cs typeface="Lato"/>
                <a:sym typeface="Lato"/>
              </a:rPr>
              <a:t>API連線</a:t>
            </a:r>
            <a:endParaRPr/>
          </a:p>
        </p:txBody>
      </p:sp>
      <p:sp>
        <p:nvSpPr>
          <p:cNvPr id="228" name="Google Shape;228;p22"/>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AutoNum type="arabicPeriod"/>
            </a:pPr>
            <a:r>
              <a:rPr lang="zh-TW"/>
              <a:t>抓取</a:t>
            </a:r>
            <a:r>
              <a:rPr lang="zh-TW"/>
              <a:t>資料夾內預先保存的期貨帳戶密碼以及API</a:t>
            </a:r>
            <a:r>
              <a:rPr lang="zh-TW"/>
              <a:t>憑證與密碼資料</a:t>
            </a:r>
            <a:endParaRPr/>
          </a:p>
          <a:p>
            <a:pPr indent="-311150" lvl="0" marL="457200" rtl="0" algn="l">
              <a:spcBef>
                <a:spcPts val="0"/>
              </a:spcBef>
              <a:spcAft>
                <a:spcPts val="0"/>
              </a:spcAft>
              <a:buSzPts val="1300"/>
              <a:buAutoNum type="arabicPeriod"/>
            </a:pPr>
            <a:r>
              <a:rPr lang="zh-TW"/>
              <a:t>重啟連線以防先前殘留其他帳戶連線資料干擾程式</a:t>
            </a:r>
            <a:endParaRPr/>
          </a:p>
        </p:txBody>
      </p:sp>
      <p:sp>
        <p:nvSpPr>
          <p:cNvPr id="229" name="Google Shape;22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30" name="Google Shape;230;p22"/>
          <p:cNvSpPr/>
          <p:nvPr/>
        </p:nvSpPr>
        <p:spPr>
          <a:xfrm>
            <a:off x="1543288" y="864325"/>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1" name="Google Shape;231;p22"/>
          <p:cNvSpPr/>
          <p:nvPr/>
        </p:nvSpPr>
        <p:spPr>
          <a:xfrm>
            <a:off x="2302344"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2" name="Google Shape;232;p22"/>
          <p:cNvSpPr/>
          <p:nvPr/>
        </p:nvSpPr>
        <p:spPr>
          <a:xfrm>
            <a:off x="2651866"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3" name="Google Shape;233;p22"/>
          <p:cNvSpPr/>
          <p:nvPr/>
        </p:nvSpPr>
        <p:spPr>
          <a:xfrm>
            <a:off x="3410922"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4" name="Google Shape;234;p22"/>
          <p:cNvSpPr/>
          <p:nvPr/>
        </p:nvSpPr>
        <p:spPr>
          <a:xfrm>
            <a:off x="3760444"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5" name="Google Shape;235;p22"/>
          <p:cNvSpPr/>
          <p:nvPr/>
        </p:nvSpPr>
        <p:spPr>
          <a:xfrm rot="5400000">
            <a:off x="4014689" y="1136339"/>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6" name="Google Shape;236;p22"/>
          <p:cNvSpPr/>
          <p:nvPr/>
        </p:nvSpPr>
        <p:spPr>
          <a:xfrm>
            <a:off x="3760444"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7" name="Google Shape;237;p22"/>
          <p:cNvSpPr/>
          <p:nvPr/>
        </p:nvSpPr>
        <p:spPr>
          <a:xfrm flipH="1">
            <a:off x="3410894"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8" name="Google Shape;238;p22"/>
          <p:cNvSpPr/>
          <p:nvPr/>
        </p:nvSpPr>
        <p:spPr>
          <a:xfrm>
            <a:off x="2651866"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9" name="Google Shape;239;p22"/>
          <p:cNvSpPr/>
          <p:nvPr/>
        </p:nvSpPr>
        <p:spPr>
          <a:xfrm flipH="1">
            <a:off x="2302316"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40" name="Google Shape;240;p22"/>
          <p:cNvSpPr/>
          <p:nvPr/>
        </p:nvSpPr>
        <p:spPr>
          <a:xfrm>
            <a:off x="1388575" y="1319897"/>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41" name="Google Shape;241;p22"/>
          <p:cNvPicPr preferRelativeResize="0"/>
          <p:nvPr/>
        </p:nvPicPr>
        <p:blipFill>
          <a:blip r:embed="rId3">
            <a:alphaModFix/>
          </a:blip>
          <a:stretch>
            <a:fillRect/>
          </a:stretch>
        </p:blipFill>
        <p:spPr>
          <a:xfrm>
            <a:off x="4645950" y="864325"/>
            <a:ext cx="4272749" cy="353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程式結構</a:t>
            </a:r>
            <a:r>
              <a:rPr lang="zh-TW"/>
              <a:t>-</a:t>
            </a:r>
            <a:r>
              <a:rPr lang="zh-TW">
                <a:solidFill>
                  <a:srgbClr val="000000"/>
                </a:solidFill>
                <a:latin typeface="Lato"/>
                <a:ea typeface="Lato"/>
                <a:cs typeface="Lato"/>
                <a:sym typeface="Lato"/>
              </a:rPr>
              <a:t>台指選最近到期商品代碼篩選</a:t>
            </a:r>
            <a:endParaRPr/>
          </a:p>
        </p:txBody>
      </p:sp>
      <p:sp>
        <p:nvSpPr>
          <p:cNvPr id="247" name="Google Shape;247;p23"/>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連線後可利用期功能:</a:t>
            </a:r>
            <a:endParaRPr/>
          </a:p>
          <a:p>
            <a:pPr indent="-311150" lvl="0" marL="457200" rtl="0" algn="l">
              <a:spcBef>
                <a:spcPts val="1200"/>
              </a:spcBef>
              <a:spcAft>
                <a:spcPts val="0"/>
              </a:spcAft>
              <a:buSzPts val="1300"/>
              <a:buAutoNum type="arabicPeriod"/>
            </a:pPr>
            <a:r>
              <a:rPr lang="zh-TW"/>
              <a:t>抓取指數類選擇權商品</a:t>
            </a:r>
            <a:endParaRPr/>
          </a:p>
          <a:p>
            <a:pPr indent="-311150" lvl="0" marL="457200" rtl="0" algn="l">
              <a:spcBef>
                <a:spcPts val="0"/>
              </a:spcBef>
              <a:spcAft>
                <a:spcPts val="0"/>
              </a:spcAft>
              <a:buSzPts val="1300"/>
              <a:buAutoNum type="arabicPeriod"/>
            </a:pPr>
            <a:r>
              <a:rPr lang="zh-TW"/>
              <a:t>合併一般時段與盤後</a:t>
            </a:r>
            <a:endParaRPr/>
          </a:p>
          <a:p>
            <a:pPr indent="-311150" lvl="0" marL="457200" rtl="0" algn="l">
              <a:spcBef>
                <a:spcPts val="0"/>
              </a:spcBef>
              <a:spcAft>
                <a:spcPts val="0"/>
              </a:spcAft>
              <a:buSzPts val="1300"/>
              <a:buAutoNum type="arabicPeriod"/>
            </a:pPr>
            <a:r>
              <a:rPr lang="zh-TW"/>
              <a:t>篩選出台指選擇權的項目</a:t>
            </a:r>
            <a:endParaRPr/>
          </a:p>
          <a:p>
            <a:pPr indent="-311150" lvl="0" marL="457200" rtl="0" algn="l">
              <a:spcBef>
                <a:spcPts val="0"/>
              </a:spcBef>
              <a:spcAft>
                <a:spcPts val="0"/>
              </a:spcAft>
              <a:buSzPts val="1300"/>
              <a:buAutoNum type="arabicPeriod"/>
            </a:pPr>
            <a:r>
              <a:rPr lang="zh-TW"/>
              <a:t>抓出最近的到期日契約</a:t>
            </a:r>
            <a:endParaRPr/>
          </a:p>
          <a:p>
            <a:pPr indent="0" lvl="0" marL="0" rtl="0" algn="l">
              <a:spcBef>
                <a:spcPts val="1200"/>
              </a:spcBef>
              <a:spcAft>
                <a:spcPts val="1200"/>
              </a:spcAft>
              <a:buNone/>
            </a:pPr>
            <a:r>
              <a:rPr lang="zh-TW"/>
              <a:t>取得所有</a:t>
            </a:r>
            <a:r>
              <a:rPr b="1" lang="zh-TW"/>
              <a:t>台指選最近到期日</a:t>
            </a:r>
            <a:r>
              <a:rPr lang="zh-TW"/>
              <a:t>所有履約價契約代碼條目</a:t>
            </a:r>
            <a:endParaRPr/>
          </a:p>
        </p:txBody>
      </p:sp>
      <p:sp>
        <p:nvSpPr>
          <p:cNvPr id="248" name="Google Shape;248;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249" name="Google Shape;249;p23"/>
          <p:cNvPicPr preferRelativeResize="0"/>
          <p:nvPr/>
        </p:nvPicPr>
        <p:blipFill>
          <a:blip r:embed="rId3">
            <a:alphaModFix/>
          </a:blip>
          <a:stretch>
            <a:fillRect/>
          </a:stretch>
        </p:blipFill>
        <p:spPr>
          <a:xfrm>
            <a:off x="4997666" y="1048350"/>
            <a:ext cx="4023485" cy="3614876"/>
          </a:xfrm>
          <a:prstGeom prst="rect">
            <a:avLst/>
          </a:prstGeom>
          <a:noFill/>
          <a:ln>
            <a:noFill/>
          </a:ln>
        </p:spPr>
      </p:pic>
      <p:sp>
        <p:nvSpPr>
          <p:cNvPr id="250" name="Google Shape;250;p23"/>
          <p:cNvSpPr/>
          <p:nvPr/>
        </p:nvSpPr>
        <p:spPr>
          <a:xfrm>
            <a:off x="1543288"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1" name="Google Shape;251;p23"/>
          <p:cNvSpPr/>
          <p:nvPr/>
        </p:nvSpPr>
        <p:spPr>
          <a:xfrm>
            <a:off x="2302344"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2" name="Google Shape;252;p23"/>
          <p:cNvSpPr/>
          <p:nvPr/>
        </p:nvSpPr>
        <p:spPr>
          <a:xfrm>
            <a:off x="2651866" y="864325"/>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3" name="Google Shape;253;p23"/>
          <p:cNvSpPr/>
          <p:nvPr/>
        </p:nvSpPr>
        <p:spPr>
          <a:xfrm>
            <a:off x="3410922"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4" name="Google Shape;254;p23"/>
          <p:cNvSpPr/>
          <p:nvPr/>
        </p:nvSpPr>
        <p:spPr>
          <a:xfrm>
            <a:off x="3760444" y="864325"/>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5" name="Google Shape;255;p23"/>
          <p:cNvSpPr/>
          <p:nvPr/>
        </p:nvSpPr>
        <p:spPr>
          <a:xfrm rot="5400000">
            <a:off x="4014689" y="1136339"/>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6" name="Google Shape;256;p23"/>
          <p:cNvSpPr/>
          <p:nvPr/>
        </p:nvSpPr>
        <p:spPr>
          <a:xfrm>
            <a:off x="3760444"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7" name="Google Shape;257;p23"/>
          <p:cNvSpPr/>
          <p:nvPr/>
        </p:nvSpPr>
        <p:spPr>
          <a:xfrm flipH="1">
            <a:off x="3410894"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8" name="Google Shape;258;p23"/>
          <p:cNvSpPr/>
          <p:nvPr/>
        </p:nvSpPr>
        <p:spPr>
          <a:xfrm>
            <a:off x="2651866"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59" name="Google Shape;259;p23"/>
          <p:cNvSpPr/>
          <p:nvPr/>
        </p:nvSpPr>
        <p:spPr>
          <a:xfrm flipH="1">
            <a:off x="2302316"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0" name="Google Shape;260;p23"/>
          <p:cNvSpPr/>
          <p:nvPr/>
        </p:nvSpPr>
        <p:spPr>
          <a:xfrm>
            <a:off x="1388575" y="1319897"/>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程式結構</a:t>
            </a:r>
            <a:r>
              <a:rPr lang="zh-TW"/>
              <a:t>-</a:t>
            </a:r>
            <a:r>
              <a:rPr lang="zh-TW">
                <a:solidFill>
                  <a:srgbClr val="000000"/>
                </a:solidFill>
                <a:latin typeface="Lato"/>
                <a:ea typeface="Lato"/>
                <a:cs typeface="Lato"/>
                <a:sym typeface="Lato"/>
              </a:rPr>
              <a:t>篩選結果</a:t>
            </a:r>
            <a:endParaRPr/>
          </a:p>
          <a:p>
            <a:pPr indent="0" lvl="0" marL="0" rtl="0" algn="l">
              <a:spcBef>
                <a:spcPts val="0"/>
              </a:spcBef>
              <a:spcAft>
                <a:spcPts val="0"/>
              </a:spcAft>
              <a:buNone/>
            </a:pPr>
            <a:r>
              <a:t/>
            </a:r>
            <a:endParaRPr>
              <a:solidFill>
                <a:srgbClr val="000000"/>
              </a:solidFill>
              <a:latin typeface="Lato"/>
              <a:ea typeface="Lato"/>
              <a:cs typeface="Lato"/>
              <a:sym typeface="Lato"/>
            </a:endParaRPr>
          </a:p>
        </p:txBody>
      </p:sp>
      <p:sp>
        <p:nvSpPr>
          <p:cNvPr id="266" name="Google Shape;26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67" name="Google Shape;267;p24"/>
          <p:cNvSpPr/>
          <p:nvPr/>
        </p:nvSpPr>
        <p:spPr>
          <a:xfrm>
            <a:off x="6309174" y="536650"/>
            <a:ext cx="607800" cy="18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8" name="Google Shape;268;p24"/>
          <p:cNvSpPr/>
          <p:nvPr/>
        </p:nvSpPr>
        <p:spPr>
          <a:xfrm>
            <a:off x="6989541" y="584585"/>
            <a:ext cx="240600" cy="9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69" name="Google Shape;269;p24"/>
          <p:cNvSpPr/>
          <p:nvPr/>
        </p:nvSpPr>
        <p:spPr>
          <a:xfrm>
            <a:off x="7302829" y="536650"/>
            <a:ext cx="607800" cy="1890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0" name="Google Shape;270;p24"/>
          <p:cNvSpPr/>
          <p:nvPr/>
        </p:nvSpPr>
        <p:spPr>
          <a:xfrm>
            <a:off x="7983197" y="584585"/>
            <a:ext cx="240600" cy="9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1" name="Google Shape;271;p24"/>
          <p:cNvSpPr/>
          <p:nvPr/>
        </p:nvSpPr>
        <p:spPr>
          <a:xfrm>
            <a:off x="8296485" y="536650"/>
            <a:ext cx="607800" cy="1890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434343"/>
              </a:solidFill>
              <a:latin typeface="Lato"/>
              <a:ea typeface="Lato"/>
              <a:cs typeface="Lato"/>
              <a:sym typeface="Lato"/>
            </a:endParaRPr>
          </a:p>
        </p:txBody>
      </p:sp>
      <p:sp>
        <p:nvSpPr>
          <p:cNvPr id="272" name="Google Shape;272;p24"/>
          <p:cNvSpPr/>
          <p:nvPr/>
        </p:nvSpPr>
        <p:spPr>
          <a:xfrm rot="5400000">
            <a:off x="8535454" y="732756"/>
            <a:ext cx="129900" cy="172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3" name="Google Shape;273;p24"/>
          <p:cNvSpPr/>
          <p:nvPr/>
        </p:nvSpPr>
        <p:spPr>
          <a:xfrm>
            <a:off x="8296485" y="912334"/>
            <a:ext cx="607800" cy="18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4" name="Google Shape;274;p24"/>
          <p:cNvSpPr/>
          <p:nvPr/>
        </p:nvSpPr>
        <p:spPr>
          <a:xfrm flipH="1">
            <a:off x="7983237" y="960269"/>
            <a:ext cx="240600" cy="9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5" name="Google Shape;275;p24"/>
          <p:cNvSpPr/>
          <p:nvPr/>
        </p:nvSpPr>
        <p:spPr>
          <a:xfrm>
            <a:off x="7302829" y="912334"/>
            <a:ext cx="607800" cy="1890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6" name="Google Shape;276;p24"/>
          <p:cNvSpPr/>
          <p:nvPr/>
        </p:nvSpPr>
        <p:spPr>
          <a:xfrm flipH="1">
            <a:off x="6989581" y="960269"/>
            <a:ext cx="240600" cy="9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77" name="Google Shape;277;p24"/>
          <p:cNvSpPr/>
          <p:nvPr/>
        </p:nvSpPr>
        <p:spPr>
          <a:xfrm>
            <a:off x="6170499" y="885933"/>
            <a:ext cx="746400" cy="2421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78" name="Google Shape;278;p24"/>
          <p:cNvPicPr preferRelativeResize="0"/>
          <p:nvPr/>
        </p:nvPicPr>
        <p:blipFill>
          <a:blip r:embed="rId3">
            <a:alphaModFix/>
          </a:blip>
          <a:stretch>
            <a:fillRect/>
          </a:stretch>
        </p:blipFill>
        <p:spPr>
          <a:xfrm>
            <a:off x="845100" y="1383935"/>
            <a:ext cx="7943697" cy="320320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5"/>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程式結構</a:t>
            </a:r>
            <a:r>
              <a:rPr lang="zh-TW"/>
              <a:t>-</a:t>
            </a:r>
            <a:r>
              <a:rPr lang="zh-TW"/>
              <a:t>資料庫架構預備</a:t>
            </a:r>
            <a:endParaRPr/>
          </a:p>
        </p:txBody>
      </p:sp>
      <p:sp>
        <p:nvSpPr>
          <p:cNvPr id="284" name="Google Shape;284;p25"/>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100"/>
              <a:t>透過</a:t>
            </a:r>
            <a:r>
              <a:rPr b="1" lang="zh-TW" sz="2100"/>
              <a:t>辨識代碼條目</a:t>
            </a:r>
            <a:r>
              <a:rPr lang="zh-TW" sz="2100"/>
              <a:t>分配行情資料在資料庫內的位置，又</a:t>
            </a:r>
            <a:r>
              <a:rPr b="1" lang="zh-TW" sz="2100"/>
              <a:t>買權賣權屬不同契約</a:t>
            </a:r>
            <a:r>
              <a:rPr lang="zh-TW" sz="2100"/>
              <a:t>，但為了分析方便，因此置於同資料表內。</a:t>
            </a:r>
            <a:endParaRPr sz="2100"/>
          </a:p>
        </p:txBody>
      </p:sp>
      <p:sp>
        <p:nvSpPr>
          <p:cNvPr id="285" name="Google Shape;285;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286" name="Google Shape;286;p25"/>
          <p:cNvSpPr/>
          <p:nvPr/>
        </p:nvSpPr>
        <p:spPr>
          <a:xfrm>
            <a:off x="1543288"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7" name="Google Shape;287;p25"/>
          <p:cNvSpPr/>
          <p:nvPr/>
        </p:nvSpPr>
        <p:spPr>
          <a:xfrm>
            <a:off x="2302344"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8" name="Google Shape;288;p25"/>
          <p:cNvSpPr/>
          <p:nvPr/>
        </p:nvSpPr>
        <p:spPr>
          <a:xfrm>
            <a:off x="2651866"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89" name="Google Shape;289;p25"/>
          <p:cNvSpPr/>
          <p:nvPr/>
        </p:nvSpPr>
        <p:spPr>
          <a:xfrm>
            <a:off x="3410922"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0" name="Google Shape;290;p25"/>
          <p:cNvSpPr/>
          <p:nvPr/>
        </p:nvSpPr>
        <p:spPr>
          <a:xfrm>
            <a:off x="3760444"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1" name="Google Shape;291;p25"/>
          <p:cNvSpPr/>
          <p:nvPr/>
        </p:nvSpPr>
        <p:spPr>
          <a:xfrm rot="5400000">
            <a:off x="4014689" y="1136339"/>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2" name="Google Shape;292;p25"/>
          <p:cNvSpPr/>
          <p:nvPr/>
        </p:nvSpPr>
        <p:spPr>
          <a:xfrm>
            <a:off x="3760444" y="1354333"/>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3" name="Google Shape;293;p25"/>
          <p:cNvSpPr/>
          <p:nvPr/>
        </p:nvSpPr>
        <p:spPr>
          <a:xfrm flipH="1">
            <a:off x="3410894"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4" name="Google Shape;294;p25"/>
          <p:cNvSpPr/>
          <p:nvPr/>
        </p:nvSpPr>
        <p:spPr>
          <a:xfrm>
            <a:off x="2651866"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5" name="Google Shape;295;p25"/>
          <p:cNvSpPr/>
          <p:nvPr/>
        </p:nvSpPr>
        <p:spPr>
          <a:xfrm flipH="1">
            <a:off x="2302316"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96" name="Google Shape;296;p25"/>
          <p:cNvSpPr/>
          <p:nvPr/>
        </p:nvSpPr>
        <p:spPr>
          <a:xfrm>
            <a:off x="1388575" y="1319897"/>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297" name="Google Shape;297;p25"/>
          <p:cNvPicPr preferRelativeResize="0"/>
          <p:nvPr/>
        </p:nvPicPr>
        <p:blipFill>
          <a:blip r:embed="rId3">
            <a:alphaModFix/>
          </a:blip>
          <a:stretch>
            <a:fillRect/>
          </a:stretch>
        </p:blipFill>
        <p:spPr>
          <a:xfrm>
            <a:off x="5018300" y="235712"/>
            <a:ext cx="3553074" cy="46720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2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程式結構-資料庫架構預備</a:t>
            </a:r>
            <a:endParaRPr/>
          </a:p>
          <a:p>
            <a:pPr indent="0" lvl="0" marL="0" rtl="0" algn="l">
              <a:spcBef>
                <a:spcPts val="0"/>
              </a:spcBef>
              <a:spcAft>
                <a:spcPts val="0"/>
              </a:spcAft>
              <a:buNone/>
            </a:pPr>
            <a:r>
              <a:t/>
            </a:r>
            <a:endParaRPr/>
          </a:p>
        </p:txBody>
      </p:sp>
      <p:sp>
        <p:nvSpPr>
          <p:cNvPr id="303" name="Google Shape;303;p26"/>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建立資料表格式，輸入同履約價的買賣權行情。資料包含:</a:t>
            </a:r>
            <a:endParaRPr/>
          </a:p>
          <a:p>
            <a:pPr indent="0" lvl="0" marL="0" rtl="0" algn="l">
              <a:spcBef>
                <a:spcPts val="1200"/>
              </a:spcBef>
              <a:spcAft>
                <a:spcPts val="0"/>
              </a:spcAft>
              <a:buNone/>
            </a:pPr>
            <a:r>
              <a:rPr lang="zh-TW"/>
              <a:t>ID(資料標號)</a:t>
            </a:r>
            <a:endParaRPr/>
          </a:p>
          <a:p>
            <a:pPr indent="0" lvl="0" marL="0" rtl="0" algn="l">
              <a:spcBef>
                <a:spcPts val="1200"/>
              </a:spcBef>
              <a:spcAft>
                <a:spcPts val="0"/>
              </a:spcAft>
              <a:buNone/>
            </a:pPr>
            <a:r>
              <a:rPr lang="zh-TW"/>
              <a:t>Symbol(</a:t>
            </a:r>
            <a:r>
              <a:rPr lang="zh-TW"/>
              <a:t>契約代碼)</a:t>
            </a:r>
            <a:endParaRPr/>
          </a:p>
          <a:p>
            <a:pPr indent="0" lvl="0" marL="0" rtl="0" algn="l">
              <a:spcBef>
                <a:spcPts val="1200"/>
              </a:spcBef>
              <a:spcAft>
                <a:spcPts val="0"/>
              </a:spcAft>
              <a:buNone/>
            </a:pPr>
            <a:r>
              <a:rPr lang="zh-TW"/>
              <a:t>DateTime、Open、High、Low、Close(行情時段與開高低收)</a:t>
            </a:r>
            <a:endParaRPr/>
          </a:p>
          <a:p>
            <a:pPr indent="0" lvl="0" marL="0" rtl="0" algn="l">
              <a:spcBef>
                <a:spcPts val="1200"/>
              </a:spcBef>
              <a:spcAft>
                <a:spcPts val="1200"/>
              </a:spcAft>
              <a:buNone/>
            </a:pPr>
            <a:r>
              <a:rPr lang="zh-TW"/>
              <a:t>其他(交易量、平均價格、交易時間段)</a:t>
            </a:r>
            <a:endParaRPr/>
          </a:p>
        </p:txBody>
      </p:sp>
      <p:sp>
        <p:nvSpPr>
          <p:cNvPr id="304" name="Google Shape;304;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05" name="Google Shape;305;p26"/>
          <p:cNvSpPr/>
          <p:nvPr/>
        </p:nvSpPr>
        <p:spPr>
          <a:xfrm>
            <a:off x="1543288"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6" name="Google Shape;306;p26"/>
          <p:cNvSpPr/>
          <p:nvPr/>
        </p:nvSpPr>
        <p:spPr>
          <a:xfrm>
            <a:off x="2302344"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7" name="Google Shape;307;p26"/>
          <p:cNvSpPr/>
          <p:nvPr/>
        </p:nvSpPr>
        <p:spPr>
          <a:xfrm>
            <a:off x="2651866"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8" name="Google Shape;308;p26"/>
          <p:cNvSpPr/>
          <p:nvPr/>
        </p:nvSpPr>
        <p:spPr>
          <a:xfrm>
            <a:off x="3410922"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09" name="Google Shape;309;p26"/>
          <p:cNvSpPr/>
          <p:nvPr/>
        </p:nvSpPr>
        <p:spPr>
          <a:xfrm>
            <a:off x="3760444"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0" name="Google Shape;310;p26"/>
          <p:cNvSpPr/>
          <p:nvPr/>
        </p:nvSpPr>
        <p:spPr>
          <a:xfrm rot="5400000">
            <a:off x="4014689" y="1136339"/>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1" name="Google Shape;311;p26"/>
          <p:cNvSpPr/>
          <p:nvPr/>
        </p:nvSpPr>
        <p:spPr>
          <a:xfrm>
            <a:off x="3760444" y="1354333"/>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2" name="Google Shape;312;p26"/>
          <p:cNvSpPr/>
          <p:nvPr/>
        </p:nvSpPr>
        <p:spPr>
          <a:xfrm flipH="1">
            <a:off x="3410894"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3" name="Google Shape;313;p26"/>
          <p:cNvSpPr/>
          <p:nvPr/>
        </p:nvSpPr>
        <p:spPr>
          <a:xfrm>
            <a:off x="2651866"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4" name="Google Shape;314;p26"/>
          <p:cNvSpPr/>
          <p:nvPr/>
        </p:nvSpPr>
        <p:spPr>
          <a:xfrm flipH="1">
            <a:off x="2302316"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15" name="Google Shape;315;p26"/>
          <p:cNvSpPr/>
          <p:nvPr/>
        </p:nvSpPr>
        <p:spPr>
          <a:xfrm>
            <a:off x="1388575" y="1319897"/>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16" name="Google Shape;316;p26"/>
          <p:cNvPicPr preferRelativeResize="0"/>
          <p:nvPr/>
        </p:nvPicPr>
        <p:blipFill rotWithShape="1">
          <a:blip r:embed="rId3">
            <a:alphaModFix/>
          </a:blip>
          <a:srcRect b="0" l="0" r="0" t="53553"/>
          <a:stretch/>
        </p:blipFill>
        <p:spPr>
          <a:xfrm>
            <a:off x="4506300" y="864325"/>
            <a:ext cx="4441700" cy="32631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程式結構</a:t>
            </a:r>
            <a:r>
              <a:rPr lang="zh-TW"/>
              <a:t>-請求行情資料存入資料庫</a:t>
            </a:r>
            <a:endParaRPr/>
          </a:p>
        </p:txBody>
      </p:sp>
      <p:sp>
        <p:nvSpPr>
          <p:cNvPr id="322" name="Google Shape;322;p27"/>
          <p:cNvSpPr txBox="1"/>
          <p:nvPr>
            <p:ph idx="1" type="body"/>
          </p:nvPr>
        </p:nvSpPr>
        <p:spPr>
          <a:xfrm>
            <a:off x="1229650" y="1906850"/>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100"/>
              <a:t>確保資料輸入的格式正確，以及避免同日重複執行程式時造成的資料重複問題，保證同時間、契約下只會有一筆行情資料。</a:t>
            </a:r>
            <a:endParaRPr sz="2100"/>
          </a:p>
        </p:txBody>
      </p:sp>
      <p:sp>
        <p:nvSpPr>
          <p:cNvPr id="323" name="Google Shape;32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24" name="Google Shape;324;p27"/>
          <p:cNvSpPr/>
          <p:nvPr/>
        </p:nvSpPr>
        <p:spPr>
          <a:xfrm>
            <a:off x="1543288"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5" name="Google Shape;325;p27"/>
          <p:cNvSpPr/>
          <p:nvPr/>
        </p:nvSpPr>
        <p:spPr>
          <a:xfrm>
            <a:off x="2302344"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6" name="Google Shape;326;p27"/>
          <p:cNvSpPr/>
          <p:nvPr/>
        </p:nvSpPr>
        <p:spPr>
          <a:xfrm>
            <a:off x="2651866"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7" name="Google Shape;327;p27"/>
          <p:cNvSpPr/>
          <p:nvPr/>
        </p:nvSpPr>
        <p:spPr>
          <a:xfrm>
            <a:off x="3410922" y="926847"/>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8" name="Google Shape;328;p27"/>
          <p:cNvSpPr/>
          <p:nvPr/>
        </p:nvSpPr>
        <p:spPr>
          <a:xfrm>
            <a:off x="3760444" y="864325"/>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29" name="Google Shape;329;p27"/>
          <p:cNvSpPr/>
          <p:nvPr/>
        </p:nvSpPr>
        <p:spPr>
          <a:xfrm rot="5400000">
            <a:off x="4014689" y="1136339"/>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0" name="Google Shape;330;p27"/>
          <p:cNvSpPr/>
          <p:nvPr/>
        </p:nvSpPr>
        <p:spPr>
          <a:xfrm>
            <a:off x="3760444" y="135433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1" name="Google Shape;331;p27"/>
          <p:cNvSpPr/>
          <p:nvPr/>
        </p:nvSpPr>
        <p:spPr>
          <a:xfrm flipH="1">
            <a:off x="3410894"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2" name="Google Shape;332;p27"/>
          <p:cNvSpPr/>
          <p:nvPr/>
        </p:nvSpPr>
        <p:spPr>
          <a:xfrm>
            <a:off x="2651866" y="1354333"/>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3" name="Google Shape;333;p27"/>
          <p:cNvSpPr/>
          <p:nvPr/>
        </p:nvSpPr>
        <p:spPr>
          <a:xfrm flipH="1">
            <a:off x="2302316" y="141685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34" name="Google Shape;334;p27"/>
          <p:cNvSpPr/>
          <p:nvPr/>
        </p:nvSpPr>
        <p:spPr>
          <a:xfrm>
            <a:off x="1388575" y="1319897"/>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35" name="Google Shape;335;p27"/>
          <p:cNvPicPr preferRelativeResize="0"/>
          <p:nvPr/>
        </p:nvPicPr>
        <p:blipFill>
          <a:blip r:embed="rId3">
            <a:alphaModFix/>
          </a:blip>
          <a:stretch>
            <a:fillRect/>
          </a:stretch>
        </p:blipFill>
        <p:spPr>
          <a:xfrm>
            <a:off x="4650537" y="864325"/>
            <a:ext cx="4067388" cy="40833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程式結構-請求結果</a:t>
            </a:r>
            <a:endParaRPr/>
          </a:p>
          <a:p>
            <a:pPr indent="0" lvl="0" marL="0" rtl="0" algn="l">
              <a:spcBef>
                <a:spcPts val="0"/>
              </a:spcBef>
              <a:spcAft>
                <a:spcPts val="0"/>
              </a:spcAft>
              <a:buNone/>
            </a:pPr>
            <a:r>
              <a:t/>
            </a:r>
            <a:endParaRPr/>
          </a:p>
        </p:txBody>
      </p:sp>
      <p:sp>
        <p:nvSpPr>
          <p:cNvPr id="341" name="Google Shape;341;p28"/>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42" name="Google Shape;342;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43" name="Google Shape;343;p28"/>
          <p:cNvSpPr/>
          <p:nvPr/>
        </p:nvSpPr>
        <p:spPr>
          <a:xfrm>
            <a:off x="5805688" y="393750"/>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4" name="Google Shape;344;p28"/>
          <p:cNvSpPr/>
          <p:nvPr/>
        </p:nvSpPr>
        <p:spPr>
          <a:xfrm>
            <a:off x="6564744" y="456272"/>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5" name="Google Shape;345;p28"/>
          <p:cNvSpPr/>
          <p:nvPr/>
        </p:nvSpPr>
        <p:spPr>
          <a:xfrm>
            <a:off x="6914266" y="393750"/>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6" name="Google Shape;346;p28"/>
          <p:cNvSpPr/>
          <p:nvPr/>
        </p:nvSpPr>
        <p:spPr>
          <a:xfrm>
            <a:off x="7673322" y="456272"/>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7" name="Google Shape;347;p28"/>
          <p:cNvSpPr/>
          <p:nvPr/>
        </p:nvSpPr>
        <p:spPr>
          <a:xfrm>
            <a:off x="8022844" y="393750"/>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8" name="Google Shape;348;p28"/>
          <p:cNvSpPr/>
          <p:nvPr/>
        </p:nvSpPr>
        <p:spPr>
          <a:xfrm rot="5400000">
            <a:off x="8277089" y="665764"/>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49" name="Google Shape;349;p28"/>
          <p:cNvSpPr/>
          <p:nvPr/>
        </p:nvSpPr>
        <p:spPr>
          <a:xfrm>
            <a:off x="8022844" y="883758"/>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0" name="Google Shape;350;p28"/>
          <p:cNvSpPr/>
          <p:nvPr/>
        </p:nvSpPr>
        <p:spPr>
          <a:xfrm flipH="1">
            <a:off x="7673294" y="946279"/>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1" name="Google Shape;351;p28"/>
          <p:cNvSpPr/>
          <p:nvPr/>
        </p:nvSpPr>
        <p:spPr>
          <a:xfrm>
            <a:off x="6914266" y="883758"/>
            <a:ext cx="678000" cy="246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2" name="Google Shape;352;p28"/>
          <p:cNvSpPr/>
          <p:nvPr/>
        </p:nvSpPr>
        <p:spPr>
          <a:xfrm flipH="1">
            <a:off x="6564716" y="946279"/>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53" name="Google Shape;353;p28"/>
          <p:cNvSpPr/>
          <p:nvPr/>
        </p:nvSpPr>
        <p:spPr>
          <a:xfrm>
            <a:off x="5650975" y="849322"/>
            <a:ext cx="832800" cy="3156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54" name="Google Shape;354;p28"/>
          <p:cNvPicPr preferRelativeResize="0"/>
          <p:nvPr/>
        </p:nvPicPr>
        <p:blipFill>
          <a:blip r:embed="rId3">
            <a:alphaModFix/>
          </a:blip>
          <a:stretch>
            <a:fillRect/>
          </a:stretch>
        </p:blipFill>
        <p:spPr>
          <a:xfrm>
            <a:off x="506175" y="1580538"/>
            <a:ext cx="8621549" cy="23489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2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程式結構-資料庫資料庫結果</a:t>
            </a:r>
            <a:endParaRPr/>
          </a:p>
          <a:p>
            <a:pPr indent="0" lvl="0" marL="0" rtl="0" algn="l">
              <a:spcBef>
                <a:spcPts val="0"/>
              </a:spcBef>
              <a:spcAft>
                <a:spcPts val="0"/>
              </a:spcAft>
              <a:buNone/>
            </a:pPr>
            <a:r>
              <a:t/>
            </a:r>
            <a:endParaRPr/>
          </a:p>
        </p:txBody>
      </p:sp>
      <p:sp>
        <p:nvSpPr>
          <p:cNvPr id="360" name="Google Shape;360;p29"/>
          <p:cNvSpPr txBox="1"/>
          <p:nvPr>
            <p:ph idx="1" type="body"/>
          </p:nvPr>
        </p:nvSpPr>
        <p:spPr>
          <a:xfrm>
            <a:off x="1297500" y="1844475"/>
            <a:ext cx="3208800" cy="2634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361" name="Google Shape;361;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62" name="Google Shape;362;p29"/>
          <p:cNvSpPr/>
          <p:nvPr/>
        </p:nvSpPr>
        <p:spPr>
          <a:xfrm>
            <a:off x="5700263" y="46521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3" name="Google Shape;363;p29"/>
          <p:cNvSpPr/>
          <p:nvPr/>
        </p:nvSpPr>
        <p:spPr>
          <a:xfrm>
            <a:off x="6459319" y="52773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4" name="Google Shape;364;p29"/>
          <p:cNvSpPr/>
          <p:nvPr/>
        </p:nvSpPr>
        <p:spPr>
          <a:xfrm>
            <a:off x="6808841" y="46521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5" name="Google Shape;365;p29"/>
          <p:cNvSpPr/>
          <p:nvPr/>
        </p:nvSpPr>
        <p:spPr>
          <a:xfrm>
            <a:off x="7567897" y="527734"/>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6" name="Google Shape;366;p29"/>
          <p:cNvSpPr/>
          <p:nvPr/>
        </p:nvSpPr>
        <p:spPr>
          <a:xfrm>
            <a:off x="7917419" y="465213"/>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7" name="Google Shape;367;p29"/>
          <p:cNvSpPr/>
          <p:nvPr/>
        </p:nvSpPr>
        <p:spPr>
          <a:xfrm rot="5400000">
            <a:off x="8171664" y="737227"/>
            <a:ext cx="169500" cy="192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8" name="Google Shape;368;p29"/>
          <p:cNvSpPr/>
          <p:nvPr/>
        </p:nvSpPr>
        <p:spPr>
          <a:xfrm>
            <a:off x="7917419" y="955220"/>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69" name="Google Shape;369;p29"/>
          <p:cNvSpPr/>
          <p:nvPr/>
        </p:nvSpPr>
        <p:spPr>
          <a:xfrm flipH="1">
            <a:off x="7567869" y="1017742"/>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0" name="Google Shape;370;p29"/>
          <p:cNvSpPr/>
          <p:nvPr/>
        </p:nvSpPr>
        <p:spPr>
          <a:xfrm>
            <a:off x="6808841" y="955220"/>
            <a:ext cx="678000" cy="246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1" name="Google Shape;371;p29"/>
          <p:cNvSpPr/>
          <p:nvPr/>
        </p:nvSpPr>
        <p:spPr>
          <a:xfrm flipH="1">
            <a:off x="6459291" y="1017742"/>
            <a:ext cx="268500" cy="121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2" name="Google Shape;372;p29"/>
          <p:cNvSpPr/>
          <p:nvPr/>
        </p:nvSpPr>
        <p:spPr>
          <a:xfrm>
            <a:off x="5545550" y="920785"/>
            <a:ext cx="832800" cy="315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pic>
        <p:nvPicPr>
          <p:cNvPr id="373" name="Google Shape;373;p29"/>
          <p:cNvPicPr preferRelativeResize="0"/>
          <p:nvPr/>
        </p:nvPicPr>
        <p:blipFill rotWithShape="1">
          <a:blip r:embed="rId3">
            <a:alphaModFix/>
          </a:blip>
          <a:srcRect b="7961" l="0" r="22094" t="0"/>
          <a:stretch/>
        </p:blipFill>
        <p:spPr>
          <a:xfrm>
            <a:off x="1893488" y="1288100"/>
            <a:ext cx="5357025" cy="3535195"/>
          </a:xfrm>
          <a:prstGeom prst="rect">
            <a:avLst/>
          </a:prstGeom>
          <a:noFill/>
          <a:ln>
            <a:noFill/>
          </a:ln>
        </p:spPr>
      </p:pic>
      <p:sp>
        <p:nvSpPr>
          <p:cNvPr id="374" name="Google Shape;374;p29"/>
          <p:cNvSpPr/>
          <p:nvPr/>
        </p:nvSpPr>
        <p:spPr>
          <a:xfrm>
            <a:off x="2284650" y="1534550"/>
            <a:ext cx="1114500" cy="3298500"/>
          </a:xfrm>
          <a:prstGeom prst="frame">
            <a:avLst>
              <a:gd fmla="val 3057"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5" name="Google Shape;375;p29"/>
          <p:cNvSpPr/>
          <p:nvPr/>
        </p:nvSpPr>
        <p:spPr>
          <a:xfrm>
            <a:off x="3519700" y="3432300"/>
            <a:ext cx="3730800" cy="1391100"/>
          </a:xfrm>
          <a:prstGeom prst="frame">
            <a:avLst>
              <a:gd fmla="val 3057"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76" name="Google Shape;376;p29"/>
          <p:cNvSpPr/>
          <p:nvPr/>
        </p:nvSpPr>
        <p:spPr>
          <a:xfrm>
            <a:off x="6509975" y="2606300"/>
            <a:ext cx="1826400" cy="580800"/>
          </a:xfrm>
          <a:prstGeom prst="wedgeRectCallout">
            <a:avLst>
              <a:gd fmla="val -25713" name="adj1"/>
              <a:gd fmla="val 102751"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資料表內容預覽</a:t>
            </a:r>
            <a:endParaRPr>
              <a:latin typeface="Lato"/>
              <a:ea typeface="Lato"/>
              <a:cs typeface="Lato"/>
              <a:sym typeface="Lato"/>
            </a:endParaRPr>
          </a:p>
        </p:txBody>
      </p:sp>
      <p:sp>
        <p:nvSpPr>
          <p:cNvPr id="377" name="Google Shape;377;p29"/>
          <p:cNvSpPr/>
          <p:nvPr/>
        </p:nvSpPr>
        <p:spPr>
          <a:xfrm>
            <a:off x="209225" y="2663625"/>
            <a:ext cx="1826400" cy="580800"/>
          </a:xfrm>
          <a:prstGeom prst="wedgeRectCallout">
            <a:avLst>
              <a:gd fmla="val 63094" name="adj1"/>
              <a:gd fmla="val 4014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各履約價</a:t>
            </a:r>
            <a:r>
              <a:rPr lang="zh-TW">
                <a:latin typeface="Lato"/>
                <a:ea typeface="Lato"/>
                <a:cs typeface="Lato"/>
                <a:sym typeface="Lato"/>
              </a:rPr>
              <a:t>資料表預覽</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30"/>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情境範例(5/21 08:45 - 13:30)</a:t>
            </a:r>
            <a:endParaRPr/>
          </a:p>
        </p:txBody>
      </p:sp>
      <p:sp>
        <p:nvSpPr>
          <p:cNvPr id="383" name="Google Shape;383;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384" name="Google Shape;384;p30"/>
          <p:cNvSpPr/>
          <p:nvPr/>
        </p:nvSpPr>
        <p:spPr>
          <a:xfrm>
            <a:off x="1207825" y="3106900"/>
            <a:ext cx="1701900" cy="10212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solidFill>
                  <a:schemeClr val="lt1"/>
                </a:solidFill>
                <a:latin typeface="Lato"/>
                <a:ea typeface="Lato"/>
                <a:cs typeface="Lato"/>
                <a:sym typeface="Lato"/>
              </a:rPr>
              <a:t>買賣權價平履約價的K線，同一時間下K棒相加（C+P）</a:t>
            </a:r>
            <a:endParaRPr>
              <a:solidFill>
                <a:schemeClr val="lt1"/>
              </a:solidFill>
              <a:latin typeface="Lato"/>
              <a:ea typeface="Lato"/>
              <a:cs typeface="Lato"/>
              <a:sym typeface="Lato"/>
            </a:endParaRPr>
          </a:p>
        </p:txBody>
      </p:sp>
      <p:sp>
        <p:nvSpPr>
          <p:cNvPr id="385" name="Google Shape;385;p30"/>
          <p:cNvSpPr/>
          <p:nvPr/>
        </p:nvSpPr>
        <p:spPr>
          <a:xfrm>
            <a:off x="3075375" y="18348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6" name="Google Shape;386;p30"/>
          <p:cNvSpPr/>
          <p:nvPr/>
        </p:nvSpPr>
        <p:spPr>
          <a:xfrm>
            <a:off x="3789725" y="16324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可透過資料表生成K線圖</a:t>
            </a:r>
            <a:endParaRPr>
              <a:latin typeface="Lato"/>
              <a:ea typeface="Lato"/>
              <a:cs typeface="Lato"/>
              <a:sym typeface="Lato"/>
            </a:endParaRPr>
          </a:p>
        </p:txBody>
      </p:sp>
      <p:sp>
        <p:nvSpPr>
          <p:cNvPr id="387" name="Google Shape;387;p30"/>
          <p:cNvSpPr/>
          <p:nvPr/>
        </p:nvSpPr>
        <p:spPr>
          <a:xfrm>
            <a:off x="5341075" y="18348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88" name="Google Shape;388;p30"/>
          <p:cNvSpPr/>
          <p:nvPr/>
        </p:nvSpPr>
        <p:spPr>
          <a:xfrm>
            <a:off x="6055425" y="16324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合成出價平履約價的K線</a:t>
            </a:r>
            <a:endParaRPr>
              <a:latin typeface="Lato"/>
              <a:ea typeface="Lato"/>
              <a:cs typeface="Lato"/>
              <a:sym typeface="Lato"/>
            </a:endParaRPr>
          </a:p>
        </p:txBody>
      </p:sp>
      <p:sp>
        <p:nvSpPr>
          <p:cNvPr id="389" name="Google Shape;389;p30"/>
          <p:cNvSpPr/>
          <p:nvPr/>
        </p:nvSpPr>
        <p:spPr>
          <a:xfrm rot="5400000">
            <a:off x="6473925" y="262775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0" name="Google Shape;390;p30"/>
          <p:cNvSpPr/>
          <p:nvPr/>
        </p:nvSpPr>
        <p:spPr>
          <a:xfrm>
            <a:off x="6055425" y="32183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設計價平變動過濾器</a:t>
            </a:r>
            <a:endParaRPr>
              <a:latin typeface="Lato"/>
              <a:ea typeface="Lato"/>
              <a:cs typeface="Lato"/>
              <a:sym typeface="Lato"/>
            </a:endParaRPr>
          </a:p>
        </p:txBody>
      </p:sp>
      <p:sp>
        <p:nvSpPr>
          <p:cNvPr id="391" name="Google Shape;391;p30"/>
          <p:cNvSpPr/>
          <p:nvPr/>
        </p:nvSpPr>
        <p:spPr>
          <a:xfrm flipH="1">
            <a:off x="5341075" y="34207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2" name="Google Shape;392;p30"/>
          <p:cNvSpPr/>
          <p:nvPr/>
        </p:nvSpPr>
        <p:spPr>
          <a:xfrm>
            <a:off x="3789725" y="3218350"/>
            <a:ext cx="1385700" cy="7983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套入過濾器後重新合成價平履約價K線</a:t>
            </a:r>
            <a:endParaRPr>
              <a:latin typeface="Lato"/>
              <a:ea typeface="Lato"/>
              <a:cs typeface="Lato"/>
              <a:sym typeface="Lato"/>
            </a:endParaRPr>
          </a:p>
        </p:txBody>
      </p:sp>
      <p:sp>
        <p:nvSpPr>
          <p:cNvPr id="393" name="Google Shape;393;p30"/>
          <p:cNvSpPr/>
          <p:nvPr/>
        </p:nvSpPr>
        <p:spPr>
          <a:xfrm flipH="1">
            <a:off x="3075375" y="3420700"/>
            <a:ext cx="548700" cy="3936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4" name="Google Shape;394;p30"/>
          <p:cNvSpPr/>
          <p:nvPr/>
        </p:nvSpPr>
        <p:spPr>
          <a:xfrm>
            <a:off x="1207825" y="1521000"/>
            <a:ext cx="1701900" cy="10212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zh-TW">
                <a:latin typeface="Lato"/>
                <a:ea typeface="Lato"/>
                <a:cs typeface="Lato"/>
                <a:sym typeface="Lato"/>
              </a:rPr>
              <a:t>每一履約價下，形成買、賣權</a:t>
            </a:r>
            <a:endParaRPr>
              <a:latin typeface="Lato"/>
              <a:ea typeface="Lato"/>
              <a:cs typeface="Lato"/>
              <a:sym typeface="Lato"/>
            </a:endParaRPr>
          </a:p>
          <a:p>
            <a:pPr indent="0" lvl="0" marL="0" rtl="0" algn="ctr">
              <a:spcBef>
                <a:spcPts val="0"/>
              </a:spcBef>
              <a:spcAft>
                <a:spcPts val="0"/>
              </a:spcAft>
              <a:buNone/>
            </a:pPr>
            <a:r>
              <a:rPr lang="zh-TW">
                <a:latin typeface="Lato"/>
                <a:ea typeface="Lato"/>
                <a:cs typeface="Lato"/>
                <a:sym typeface="Lato"/>
              </a:rPr>
              <a:t>一分K行情資料表</a:t>
            </a:r>
            <a:endParaRPr>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1"/>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單一履約價K線圖</a:t>
            </a:r>
            <a:endParaRPr/>
          </a:p>
          <a:p>
            <a:pPr indent="0" lvl="0" marL="0" rtl="0" algn="l">
              <a:spcBef>
                <a:spcPts val="0"/>
              </a:spcBef>
              <a:spcAft>
                <a:spcPts val="0"/>
              </a:spcAft>
              <a:buNone/>
            </a:pPr>
            <a:r>
              <a:rPr lang="zh-TW"/>
              <a:t>CALL</a:t>
            </a:r>
            <a:endParaRPr/>
          </a:p>
        </p:txBody>
      </p:sp>
      <p:sp>
        <p:nvSpPr>
          <p:cNvPr id="400" name="Google Shape;400;p31"/>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401" name="Google Shape;40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02" name="Google Shape;402;p31"/>
          <p:cNvPicPr preferRelativeResize="0"/>
          <p:nvPr/>
        </p:nvPicPr>
        <p:blipFill>
          <a:blip r:embed="rId3">
            <a:alphaModFix/>
          </a:blip>
          <a:stretch>
            <a:fillRect/>
          </a:stretch>
        </p:blipFill>
        <p:spPr>
          <a:xfrm>
            <a:off x="0" y="1191837"/>
            <a:ext cx="9143999" cy="2759825"/>
          </a:xfrm>
          <a:prstGeom prst="rect">
            <a:avLst/>
          </a:prstGeom>
          <a:noFill/>
          <a:ln>
            <a:noFill/>
          </a:ln>
        </p:spPr>
      </p:pic>
      <p:sp>
        <p:nvSpPr>
          <p:cNvPr id="403" name="Google Shape;403;p31"/>
          <p:cNvSpPr/>
          <p:nvPr/>
        </p:nvSpPr>
        <p:spPr>
          <a:xfrm>
            <a:off x="4999650" y="1186539"/>
            <a:ext cx="1059300" cy="6357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04" name="Google Shape;404;p31"/>
          <p:cNvSpPr/>
          <p:nvPr/>
        </p:nvSpPr>
        <p:spPr>
          <a:xfrm>
            <a:off x="6162056"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5" name="Google Shape;405;p31"/>
          <p:cNvSpPr/>
          <p:nvPr/>
        </p:nvSpPr>
        <p:spPr>
          <a:xfrm>
            <a:off x="6606684" y="268818"/>
            <a:ext cx="862500" cy="4968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6" name="Google Shape;406;p31"/>
          <p:cNvSpPr/>
          <p:nvPr/>
        </p:nvSpPr>
        <p:spPr>
          <a:xfrm>
            <a:off x="7572280"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7" name="Google Shape;407;p31"/>
          <p:cNvSpPr/>
          <p:nvPr/>
        </p:nvSpPr>
        <p:spPr>
          <a:xfrm>
            <a:off x="8016908" y="268818"/>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8" name="Google Shape;408;p31"/>
          <p:cNvSpPr/>
          <p:nvPr/>
        </p:nvSpPr>
        <p:spPr>
          <a:xfrm rot="5400000">
            <a:off x="8277397" y="888190"/>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9" name="Google Shape;409;p31"/>
          <p:cNvSpPr/>
          <p:nvPr/>
        </p:nvSpPr>
        <p:spPr>
          <a:xfrm>
            <a:off x="8016908"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0" name="Google Shape;410;p31"/>
          <p:cNvSpPr/>
          <p:nvPr/>
        </p:nvSpPr>
        <p:spPr>
          <a:xfrm flipH="1">
            <a:off x="7572404"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1" name="Google Shape;411;p31"/>
          <p:cNvSpPr/>
          <p:nvPr/>
        </p:nvSpPr>
        <p:spPr>
          <a:xfrm>
            <a:off x="6606684"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2" name="Google Shape;412;p31"/>
          <p:cNvSpPr/>
          <p:nvPr/>
        </p:nvSpPr>
        <p:spPr>
          <a:xfrm flipH="1">
            <a:off x="6162180"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13" name="Google Shape;413;p31"/>
          <p:cNvSpPr/>
          <p:nvPr/>
        </p:nvSpPr>
        <p:spPr>
          <a:xfrm>
            <a:off x="4999650" y="199450"/>
            <a:ext cx="1059300" cy="6357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32"/>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單一</a:t>
            </a:r>
            <a:r>
              <a:rPr lang="zh-TW"/>
              <a:t>履約價K線圖</a:t>
            </a:r>
            <a:endParaRPr/>
          </a:p>
          <a:p>
            <a:pPr indent="0" lvl="0" marL="0" rtl="0" algn="l">
              <a:spcBef>
                <a:spcPts val="0"/>
              </a:spcBef>
              <a:spcAft>
                <a:spcPts val="0"/>
              </a:spcAft>
              <a:buNone/>
            </a:pPr>
            <a:r>
              <a:rPr lang="zh-TW"/>
              <a:t>PUT</a:t>
            </a:r>
            <a:endParaRPr/>
          </a:p>
          <a:p>
            <a:pPr indent="0" lvl="0" marL="0" rtl="0" algn="l">
              <a:spcBef>
                <a:spcPts val="0"/>
              </a:spcBef>
              <a:spcAft>
                <a:spcPts val="0"/>
              </a:spcAft>
              <a:buNone/>
            </a:pPr>
            <a:r>
              <a:t/>
            </a:r>
            <a:endParaRPr/>
          </a:p>
        </p:txBody>
      </p:sp>
      <p:sp>
        <p:nvSpPr>
          <p:cNvPr id="419" name="Google Shape;419;p3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420" name="Google Shape;420;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21" name="Google Shape;421;p32"/>
          <p:cNvPicPr preferRelativeResize="0"/>
          <p:nvPr/>
        </p:nvPicPr>
        <p:blipFill>
          <a:blip r:embed="rId3">
            <a:alphaModFix/>
          </a:blip>
          <a:stretch>
            <a:fillRect/>
          </a:stretch>
        </p:blipFill>
        <p:spPr>
          <a:xfrm>
            <a:off x="0" y="1221626"/>
            <a:ext cx="9143999" cy="2549597"/>
          </a:xfrm>
          <a:prstGeom prst="rect">
            <a:avLst/>
          </a:prstGeom>
          <a:noFill/>
          <a:ln>
            <a:noFill/>
          </a:ln>
        </p:spPr>
      </p:pic>
      <p:sp>
        <p:nvSpPr>
          <p:cNvPr id="422" name="Google Shape;422;p32"/>
          <p:cNvSpPr/>
          <p:nvPr/>
        </p:nvSpPr>
        <p:spPr>
          <a:xfrm>
            <a:off x="4999650" y="1186539"/>
            <a:ext cx="1059300" cy="6357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23" name="Google Shape;423;p32"/>
          <p:cNvSpPr/>
          <p:nvPr/>
        </p:nvSpPr>
        <p:spPr>
          <a:xfrm>
            <a:off x="6162056"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4" name="Google Shape;424;p32"/>
          <p:cNvSpPr/>
          <p:nvPr/>
        </p:nvSpPr>
        <p:spPr>
          <a:xfrm>
            <a:off x="6606684" y="268818"/>
            <a:ext cx="862500" cy="4968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5" name="Google Shape;425;p32"/>
          <p:cNvSpPr/>
          <p:nvPr/>
        </p:nvSpPr>
        <p:spPr>
          <a:xfrm>
            <a:off x="7572280"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6" name="Google Shape;426;p32"/>
          <p:cNvSpPr/>
          <p:nvPr/>
        </p:nvSpPr>
        <p:spPr>
          <a:xfrm>
            <a:off x="8016908" y="268818"/>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7" name="Google Shape;427;p32"/>
          <p:cNvSpPr/>
          <p:nvPr/>
        </p:nvSpPr>
        <p:spPr>
          <a:xfrm rot="5400000">
            <a:off x="8277397" y="888190"/>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8" name="Google Shape;428;p32"/>
          <p:cNvSpPr/>
          <p:nvPr/>
        </p:nvSpPr>
        <p:spPr>
          <a:xfrm>
            <a:off x="8016908"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29" name="Google Shape;429;p32"/>
          <p:cNvSpPr/>
          <p:nvPr/>
        </p:nvSpPr>
        <p:spPr>
          <a:xfrm flipH="1">
            <a:off x="7572404"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0" name="Google Shape;430;p32"/>
          <p:cNvSpPr/>
          <p:nvPr/>
        </p:nvSpPr>
        <p:spPr>
          <a:xfrm>
            <a:off x="6606684"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1" name="Google Shape;431;p32"/>
          <p:cNvSpPr/>
          <p:nvPr/>
        </p:nvSpPr>
        <p:spPr>
          <a:xfrm flipH="1">
            <a:off x="6162180"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32" name="Google Shape;432;p32"/>
          <p:cNvSpPr/>
          <p:nvPr/>
        </p:nvSpPr>
        <p:spPr>
          <a:xfrm>
            <a:off x="4999650" y="199450"/>
            <a:ext cx="1059300" cy="6357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3"/>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價平履約價配對查詢</a:t>
            </a:r>
            <a:endParaRPr/>
          </a:p>
          <a:p>
            <a:pPr indent="0" lvl="0" marL="0" rtl="0" algn="l">
              <a:spcBef>
                <a:spcPts val="0"/>
              </a:spcBef>
              <a:spcAft>
                <a:spcPts val="0"/>
              </a:spcAft>
              <a:buNone/>
            </a:pPr>
            <a:r>
              <a:t/>
            </a:r>
            <a:endParaRPr/>
          </a:p>
        </p:txBody>
      </p:sp>
      <p:sp>
        <p:nvSpPr>
          <p:cNvPr id="438" name="Google Shape;438;p33"/>
          <p:cNvSpPr txBox="1"/>
          <p:nvPr>
            <p:ph idx="1" type="body"/>
          </p:nvPr>
        </p:nvSpPr>
        <p:spPr>
          <a:xfrm>
            <a:off x="1297500" y="1567550"/>
            <a:ext cx="35175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配對設計:</a:t>
            </a:r>
            <a:endParaRPr/>
          </a:p>
          <a:p>
            <a:pPr indent="0" lvl="0" marL="0" rtl="0" algn="l">
              <a:spcBef>
                <a:spcPts val="1200"/>
              </a:spcBef>
              <a:spcAft>
                <a:spcPts val="0"/>
              </a:spcAft>
              <a:buNone/>
            </a:pPr>
            <a:r>
              <a:rPr lang="zh-TW"/>
              <a:t>利用當下履約價分K的收盤價最接近的買賣權作為當下的價平履約價</a:t>
            </a:r>
            <a:endParaRPr/>
          </a:p>
          <a:p>
            <a:pPr indent="0" lvl="0" marL="0" rtl="0" algn="l">
              <a:spcBef>
                <a:spcPts val="1200"/>
              </a:spcBef>
              <a:spcAft>
                <a:spcPts val="0"/>
              </a:spcAft>
              <a:buNone/>
            </a:pPr>
            <a:r>
              <a:rPr lang="zh-TW"/>
              <a:t>優勢: 更靈敏、配合高頻交易</a:t>
            </a:r>
            <a:endParaRPr/>
          </a:p>
          <a:p>
            <a:pPr indent="0" lvl="0" marL="0" rtl="0" algn="l">
              <a:spcBef>
                <a:spcPts val="1200"/>
              </a:spcBef>
              <a:spcAft>
                <a:spcPts val="0"/>
              </a:spcAft>
              <a:buNone/>
            </a:pPr>
            <a:r>
              <a:rPr lang="zh-TW"/>
              <a:t>劣勢:信號不穩、噪音過多</a:t>
            </a:r>
            <a:endParaRPr/>
          </a:p>
          <a:p>
            <a:pPr indent="0" lvl="0" marL="0" rtl="0" algn="l">
              <a:spcBef>
                <a:spcPts val="1200"/>
              </a:spcBef>
              <a:spcAft>
                <a:spcPts val="1200"/>
              </a:spcAft>
              <a:buNone/>
            </a:pPr>
            <a:r>
              <a:rPr lang="zh-TW"/>
              <a:t>改進方法:改為</a:t>
            </a:r>
            <a:r>
              <a:rPr lang="zh-TW"/>
              <a:t>利用前一個履約價分K的收盤價最接近的買賣權作為當下的價平履約價，或者</a:t>
            </a:r>
            <a:r>
              <a:rPr b="1" lang="zh-TW"/>
              <a:t>設計過濾器</a:t>
            </a:r>
            <a:r>
              <a:rPr lang="zh-TW"/>
              <a:t>降低噪音的干擾</a:t>
            </a:r>
            <a:r>
              <a:rPr lang="zh-TW"/>
              <a:t>	</a:t>
            </a:r>
            <a:endParaRPr/>
          </a:p>
        </p:txBody>
      </p:sp>
      <p:sp>
        <p:nvSpPr>
          <p:cNvPr id="439" name="Google Shape;43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40" name="Google Shape;440;p33"/>
          <p:cNvPicPr preferRelativeResize="0"/>
          <p:nvPr/>
        </p:nvPicPr>
        <p:blipFill>
          <a:blip r:embed="rId3">
            <a:alphaModFix/>
          </a:blip>
          <a:stretch>
            <a:fillRect/>
          </a:stretch>
        </p:blipFill>
        <p:spPr>
          <a:xfrm>
            <a:off x="4967400" y="567801"/>
            <a:ext cx="4176601" cy="4423299"/>
          </a:xfrm>
          <a:prstGeom prst="rect">
            <a:avLst/>
          </a:prstGeom>
          <a:noFill/>
          <a:ln>
            <a:noFill/>
          </a:ln>
        </p:spPr>
      </p:pic>
      <p:sp>
        <p:nvSpPr>
          <p:cNvPr id="441" name="Google Shape;441;p33"/>
          <p:cNvSpPr/>
          <p:nvPr/>
        </p:nvSpPr>
        <p:spPr>
          <a:xfrm>
            <a:off x="2836429" y="1470369"/>
            <a:ext cx="540300" cy="3015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42" name="Google Shape;442;p33"/>
          <p:cNvSpPr/>
          <p:nvPr/>
        </p:nvSpPr>
        <p:spPr>
          <a:xfrm>
            <a:off x="3429248" y="1094776"/>
            <a:ext cx="174000" cy="11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3" name="Google Shape;443;p33"/>
          <p:cNvSpPr/>
          <p:nvPr/>
        </p:nvSpPr>
        <p:spPr>
          <a:xfrm>
            <a:off x="3656005" y="1035031"/>
            <a:ext cx="439800" cy="23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4" name="Google Shape;444;p33"/>
          <p:cNvSpPr/>
          <p:nvPr/>
        </p:nvSpPr>
        <p:spPr>
          <a:xfrm>
            <a:off x="4148453" y="1094776"/>
            <a:ext cx="174000" cy="11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5" name="Google Shape;445;p33"/>
          <p:cNvSpPr/>
          <p:nvPr/>
        </p:nvSpPr>
        <p:spPr>
          <a:xfrm>
            <a:off x="4375210" y="1035031"/>
            <a:ext cx="439800" cy="23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6" name="Google Shape;446;p33"/>
          <p:cNvSpPr/>
          <p:nvPr/>
        </p:nvSpPr>
        <p:spPr>
          <a:xfrm rot="5400000">
            <a:off x="4514063" y="1324451"/>
            <a:ext cx="162000" cy="12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7" name="Google Shape;447;p33"/>
          <p:cNvSpPr/>
          <p:nvPr/>
        </p:nvSpPr>
        <p:spPr>
          <a:xfrm>
            <a:off x="4375210" y="1503275"/>
            <a:ext cx="439800" cy="23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8" name="Google Shape;448;p33"/>
          <p:cNvSpPr/>
          <p:nvPr/>
        </p:nvSpPr>
        <p:spPr>
          <a:xfrm flipH="1">
            <a:off x="4148627" y="1563020"/>
            <a:ext cx="174000" cy="11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49" name="Google Shape;449;p33"/>
          <p:cNvSpPr/>
          <p:nvPr/>
        </p:nvSpPr>
        <p:spPr>
          <a:xfrm>
            <a:off x="3656005" y="1503275"/>
            <a:ext cx="439800" cy="235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0" name="Google Shape;450;p33"/>
          <p:cNvSpPr/>
          <p:nvPr/>
        </p:nvSpPr>
        <p:spPr>
          <a:xfrm flipH="1">
            <a:off x="3429423" y="1563020"/>
            <a:ext cx="174000" cy="1164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51" name="Google Shape;451;p33"/>
          <p:cNvSpPr/>
          <p:nvPr/>
        </p:nvSpPr>
        <p:spPr>
          <a:xfrm>
            <a:off x="2836429" y="1002125"/>
            <a:ext cx="540300" cy="3015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p34"/>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配對結果K線圖</a:t>
            </a:r>
            <a:endParaRPr/>
          </a:p>
          <a:p>
            <a:pPr indent="0" lvl="0" marL="0" rtl="0" algn="l">
              <a:spcBef>
                <a:spcPts val="0"/>
              </a:spcBef>
              <a:spcAft>
                <a:spcPts val="0"/>
              </a:spcAft>
              <a:buNone/>
            </a:pPr>
            <a:r>
              <a:rPr lang="zh-TW"/>
              <a:t>CALL</a:t>
            </a:r>
            <a:endParaRPr/>
          </a:p>
        </p:txBody>
      </p:sp>
      <p:sp>
        <p:nvSpPr>
          <p:cNvPr id="457" name="Google Shape;457;p34"/>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458" name="Google Shape;458;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59" name="Google Shape;459;p34"/>
          <p:cNvPicPr preferRelativeResize="0"/>
          <p:nvPr/>
        </p:nvPicPr>
        <p:blipFill>
          <a:blip r:embed="rId3">
            <a:alphaModFix/>
          </a:blip>
          <a:stretch>
            <a:fillRect/>
          </a:stretch>
        </p:blipFill>
        <p:spPr>
          <a:xfrm>
            <a:off x="0" y="1353362"/>
            <a:ext cx="9143998" cy="2436775"/>
          </a:xfrm>
          <a:prstGeom prst="rect">
            <a:avLst/>
          </a:prstGeom>
          <a:noFill/>
          <a:ln>
            <a:noFill/>
          </a:ln>
        </p:spPr>
      </p:pic>
      <p:sp>
        <p:nvSpPr>
          <p:cNvPr id="460" name="Google Shape;460;p34"/>
          <p:cNvSpPr/>
          <p:nvPr/>
        </p:nvSpPr>
        <p:spPr>
          <a:xfrm>
            <a:off x="4999650" y="1186539"/>
            <a:ext cx="1059300" cy="6357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61" name="Google Shape;461;p34"/>
          <p:cNvSpPr/>
          <p:nvPr/>
        </p:nvSpPr>
        <p:spPr>
          <a:xfrm>
            <a:off x="6162056"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2" name="Google Shape;462;p34"/>
          <p:cNvSpPr/>
          <p:nvPr/>
        </p:nvSpPr>
        <p:spPr>
          <a:xfrm>
            <a:off x="6606684" y="268818"/>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3" name="Google Shape;463;p34"/>
          <p:cNvSpPr/>
          <p:nvPr/>
        </p:nvSpPr>
        <p:spPr>
          <a:xfrm>
            <a:off x="7572280"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4" name="Google Shape;464;p34"/>
          <p:cNvSpPr/>
          <p:nvPr/>
        </p:nvSpPr>
        <p:spPr>
          <a:xfrm>
            <a:off x="8016908" y="268818"/>
            <a:ext cx="862500" cy="4968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5" name="Google Shape;465;p34"/>
          <p:cNvSpPr/>
          <p:nvPr/>
        </p:nvSpPr>
        <p:spPr>
          <a:xfrm rot="5400000">
            <a:off x="8277397" y="888190"/>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6" name="Google Shape;466;p34"/>
          <p:cNvSpPr/>
          <p:nvPr/>
        </p:nvSpPr>
        <p:spPr>
          <a:xfrm>
            <a:off x="8016908"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7" name="Google Shape;467;p34"/>
          <p:cNvSpPr/>
          <p:nvPr/>
        </p:nvSpPr>
        <p:spPr>
          <a:xfrm flipH="1">
            <a:off x="7572404"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8" name="Google Shape;468;p34"/>
          <p:cNvSpPr/>
          <p:nvPr/>
        </p:nvSpPr>
        <p:spPr>
          <a:xfrm>
            <a:off x="6606684"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69" name="Google Shape;469;p34"/>
          <p:cNvSpPr/>
          <p:nvPr/>
        </p:nvSpPr>
        <p:spPr>
          <a:xfrm flipH="1">
            <a:off x="6162180"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70" name="Google Shape;470;p34"/>
          <p:cNvSpPr/>
          <p:nvPr/>
        </p:nvSpPr>
        <p:spPr>
          <a:xfrm>
            <a:off x="4999650" y="199450"/>
            <a:ext cx="1059300" cy="6357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4" name="Shape 474"/>
        <p:cNvGrpSpPr/>
        <p:nvPr/>
      </p:nvGrpSpPr>
      <p:grpSpPr>
        <a:xfrm>
          <a:off x="0" y="0"/>
          <a:ext cx="0" cy="0"/>
          <a:chOff x="0" y="0"/>
          <a:chExt cx="0" cy="0"/>
        </a:xfrm>
      </p:grpSpPr>
      <p:sp>
        <p:nvSpPr>
          <p:cNvPr id="475" name="Google Shape;475;p35"/>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配對結果K線圖</a:t>
            </a:r>
            <a:endParaRPr/>
          </a:p>
          <a:p>
            <a:pPr indent="0" lvl="0" marL="0" rtl="0" algn="l">
              <a:spcBef>
                <a:spcPts val="0"/>
              </a:spcBef>
              <a:spcAft>
                <a:spcPts val="0"/>
              </a:spcAft>
              <a:buNone/>
            </a:pPr>
            <a:r>
              <a:rPr lang="zh-TW"/>
              <a:t>PUT</a:t>
            </a:r>
            <a:endParaRPr/>
          </a:p>
        </p:txBody>
      </p:sp>
      <p:sp>
        <p:nvSpPr>
          <p:cNvPr id="476" name="Google Shape;476;p35"/>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477" name="Google Shape;47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78" name="Google Shape;478;p35"/>
          <p:cNvPicPr preferRelativeResize="0"/>
          <p:nvPr/>
        </p:nvPicPr>
        <p:blipFill rotWithShape="1">
          <a:blip r:embed="rId3">
            <a:alphaModFix/>
          </a:blip>
          <a:srcRect b="7407" l="0" r="0" t="0"/>
          <a:stretch/>
        </p:blipFill>
        <p:spPr>
          <a:xfrm>
            <a:off x="0" y="1307850"/>
            <a:ext cx="9144002" cy="2553701"/>
          </a:xfrm>
          <a:prstGeom prst="rect">
            <a:avLst/>
          </a:prstGeom>
          <a:noFill/>
          <a:ln>
            <a:noFill/>
          </a:ln>
        </p:spPr>
      </p:pic>
      <p:sp>
        <p:nvSpPr>
          <p:cNvPr id="479" name="Google Shape;479;p35"/>
          <p:cNvSpPr/>
          <p:nvPr/>
        </p:nvSpPr>
        <p:spPr>
          <a:xfrm>
            <a:off x="4999650" y="1186539"/>
            <a:ext cx="1059300" cy="6357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80" name="Google Shape;480;p35"/>
          <p:cNvSpPr/>
          <p:nvPr/>
        </p:nvSpPr>
        <p:spPr>
          <a:xfrm>
            <a:off x="6162056"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1" name="Google Shape;481;p35"/>
          <p:cNvSpPr/>
          <p:nvPr/>
        </p:nvSpPr>
        <p:spPr>
          <a:xfrm>
            <a:off x="6606684" y="268818"/>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2" name="Google Shape;482;p35"/>
          <p:cNvSpPr/>
          <p:nvPr/>
        </p:nvSpPr>
        <p:spPr>
          <a:xfrm>
            <a:off x="7572280" y="394764"/>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3" name="Google Shape;483;p35"/>
          <p:cNvSpPr/>
          <p:nvPr/>
        </p:nvSpPr>
        <p:spPr>
          <a:xfrm>
            <a:off x="8016908" y="268818"/>
            <a:ext cx="862500" cy="4968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4" name="Google Shape;484;p35"/>
          <p:cNvSpPr/>
          <p:nvPr/>
        </p:nvSpPr>
        <p:spPr>
          <a:xfrm rot="5400000">
            <a:off x="8277397" y="888190"/>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5" name="Google Shape;485;p35"/>
          <p:cNvSpPr/>
          <p:nvPr/>
        </p:nvSpPr>
        <p:spPr>
          <a:xfrm>
            <a:off x="8016908"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6" name="Google Shape;486;p35"/>
          <p:cNvSpPr/>
          <p:nvPr/>
        </p:nvSpPr>
        <p:spPr>
          <a:xfrm flipH="1">
            <a:off x="7572404"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7" name="Google Shape;487;p35"/>
          <p:cNvSpPr/>
          <p:nvPr/>
        </p:nvSpPr>
        <p:spPr>
          <a:xfrm>
            <a:off x="6606684" y="1255907"/>
            <a:ext cx="862500" cy="496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8" name="Google Shape;488;p35"/>
          <p:cNvSpPr/>
          <p:nvPr/>
        </p:nvSpPr>
        <p:spPr>
          <a:xfrm flipH="1">
            <a:off x="6162180" y="1381853"/>
            <a:ext cx="341400" cy="24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89" name="Google Shape;489;p35"/>
          <p:cNvSpPr/>
          <p:nvPr/>
        </p:nvSpPr>
        <p:spPr>
          <a:xfrm>
            <a:off x="4999650" y="199450"/>
            <a:ext cx="1059300" cy="6357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3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為了過濾雜訊</a:t>
            </a:r>
            <a:endParaRPr/>
          </a:p>
          <a:p>
            <a:pPr indent="0" lvl="0" marL="0" rtl="0" algn="l">
              <a:spcBef>
                <a:spcPts val="0"/>
              </a:spcBef>
              <a:spcAft>
                <a:spcPts val="0"/>
              </a:spcAft>
              <a:buNone/>
            </a:pPr>
            <a:r>
              <a:rPr lang="zh-TW"/>
              <a:t>設計價平變動過濾器</a:t>
            </a:r>
            <a:endParaRPr/>
          </a:p>
        </p:txBody>
      </p:sp>
      <p:sp>
        <p:nvSpPr>
          <p:cNvPr id="495" name="Google Shape;495;p36"/>
          <p:cNvSpPr txBox="1"/>
          <p:nvPr>
            <p:ph idx="1" type="body"/>
          </p:nvPr>
        </p:nvSpPr>
        <p:spPr>
          <a:xfrm>
            <a:off x="1054500" y="1424850"/>
            <a:ext cx="3313800" cy="29112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zh-TW" sz="1800"/>
              <a:t>過濾器設計</a:t>
            </a:r>
            <a:r>
              <a:rPr lang="zh-TW" sz="1800"/>
              <a:t>:</a:t>
            </a:r>
            <a:endParaRPr sz="1800"/>
          </a:p>
          <a:p>
            <a:pPr indent="-334327" lvl="0" marL="457200" rtl="0" algn="l">
              <a:spcBef>
                <a:spcPts val="1200"/>
              </a:spcBef>
              <a:spcAft>
                <a:spcPts val="0"/>
              </a:spcAft>
              <a:buSzPct val="100000"/>
              <a:buAutoNum type="arabicPeriod"/>
            </a:pPr>
            <a:r>
              <a:rPr lang="zh-TW" sz="1800"/>
              <a:t>開盤時重置(08:45、15:00)</a:t>
            </a:r>
            <a:endParaRPr sz="1800"/>
          </a:p>
          <a:p>
            <a:pPr indent="-334327" lvl="0" marL="457200" rtl="0" algn="l">
              <a:spcBef>
                <a:spcPts val="0"/>
              </a:spcBef>
              <a:spcAft>
                <a:spcPts val="0"/>
              </a:spcAft>
              <a:buSzPct val="100000"/>
              <a:buAutoNum type="arabicPeriod"/>
            </a:pPr>
            <a:r>
              <a:rPr lang="zh-TW" sz="1800"/>
              <a:t>切換履約價前判斷前後是否有跳空</a:t>
            </a:r>
            <a:endParaRPr sz="1800"/>
          </a:p>
          <a:p>
            <a:pPr indent="-334327" lvl="0" marL="457200" rtl="0" algn="l">
              <a:spcBef>
                <a:spcPts val="0"/>
              </a:spcBef>
              <a:spcAft>
                <a:spcPts val="0"/>
              </a:spcAft>
              <a:buSzPct val="100000"/>
              <a:buAutoNum type="arabicPeriod"/>
            </a:pPr>
            <a:r>
              <a:rPr lang="zh-TW" sz="1800"/>
              <a:t>判斷當前是否交易量不足</a:t>
            </a:r>
            <a:endParaRPr sz="1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496" name="Google Shape;496;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497" name="Google Shape;497;p36"/>
          <p:cNvPicPr preferRelativeResize="0"/>
          <p:nvPr/>
        </p:nvPicPr>
        <p:blipFill rotWithShape="1">
          <a:blip r:embed="rId3">
            <a:alphaModFix/>
          </a:blip>
          <a:srcRect b="0" l="5569" r="8349" t="3938"/>
          <a:stretch/>
        </p:blipFill>
        <p:spPr>
          <a:xfrm>
            <a:off x="4368175" y="1244225"/>
            <a:ext cx="4652975" cy="3419000"/>
          </a:xfrm>
          <a:prstGeom prst="rect">
            <a:avLst/>
          </a:prstGeom>
          <a:noFill/>
          <a:ln>
            <a:noFill/>
          </a:ln>
        </p:spPr>
      </p:pic>
      <p:sp>
        <p:nvSpPr>
          <p:cNvPr id="498" name="Google Shape;498;p36"/>
          <p:cNvSpPr/>
          <p:nvPr/>
        </p:nvSpPr>
        <p:spPr>
          <a:xfrm>
            <a:off x="6129725" y="847937"/>
            <a:ext cx="588300" cy="3963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499" name="Google Shape;499;p36"/>
          <p:cNvSpPr/>
          <p:nvPr/>
        </p:nvSpPr>
        <p:spPr>
          <a:xfrm>
            <a:off x="6775253" y="354453"/>
            <a:ext cx="189600" cy="15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0" name="Google Shape;500;p36"/>
          <p:cNvSpPr/>
          <p:nvPr/>
        </p:nvSpPr>
        <p:spPr>
          <a:xfrm>
            <a:off x="7022171" y="275956"/>
            <a:ext cx="479100" cy="30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1" name="Google Shape;501;p36"/>
          <p:cNvSpPr/>
          <p:nvPr/>
        </p:nvSpPr>
        <p:spPr>
          <a:xfrm>
            <a:off x="7558403" y="354453"/>
            <a:ext cx="189600" cy="15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2" name="Google Shape;502;p36"/>
          <p:cNvSpPr/>
          <p:nvPr/>
        </p:nvSpPr>
        <p:spPr>
          <a:xfrm>
            <a:off x="7805321" y="275956"/>
            <a:ext cx="479100" cy="30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3" name="Google Shape;503;p36"/>
          <p:cNvSpPr/>
          <p:nvPr/>
        </p:nvSpPr>
        <p:spPr>
          <a:xfrm rot="5400000">
            <a:off x="7938383" y="670227"/>
            <a:ext cx="212700" cy="1362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4" name="Google Shape;504;p36"/>
          <p:cNvSpPr/>
          <p:nvPr/>
        </p:nvSpPr>
        <p:spPr>
          <a:xfrm>
            <a:off x="7805321" y="891172"/>
            <a:ext cx="479100" cy="3096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5" name="Google Shape;505;p36"/>
          <p:cNvSpPr/>
          <p:nvPr/>
        </p:nvSpPr>
        <p:spPr>
          <a:xfrm flipH="1">
            <a:off x="7558464" y="969669"/>
            <a:ext cx="189600" cy="15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6" name="Google Shape;506;p36"/>
          <p:cNvSpPr/>
          <p:nvPr/>
        </p:nvSpPr>
        <p:spPr>
          <a:xfrm>
            <a:off x="7022171" y="891172"/>
            <a:ext cx="479100" cy="3096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7" name="Google Shape;507;p36"/>
          <p:cNvSpPr/>
          <p:nvPr/>
        </p:nvSpPr>
        <p:spPr>
          <a:xfrm flipH="1">
            <a:off x="6775314" y="969669"/>
            <a:ext cx="189600" cy="152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08" name="Google Shape;508;p36"/>
          <p:cNvSpPr/>
          <p:nvPr/>
        </p:nvSpPr>
        <p:spPr>
          <a:xfrm>
            <a:off x="6129725" y="232721"/>
            <a:ext cx="588300" cy="3963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37"/>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使用過濾器後，雜訊有效減少</a:t>
            </a:r>
            <a:endParaRPr/>
          </a:p>
          <a:p>
            <a:pPr indent="0" lvl="0" marL="0" rtl="0" algn="l">
              <a:spcBef>
                <a:spcPts val="0"/>
              </a:spcBef>
              <a:spcAft>
                <a:spcPts val="0"/>
              </a:spcAft>
              <a:buNone/>
            </a:pPr>
            <a:r>
              <a:rPr lang="zh-TW"/>
              <a:t>CALL</a:t>
            </a:r>
            <a:endParaRPr/>
          </a:p>
        </p:txBody>
      </p:sp>
      <p:sp>
        <p:nvSpPr>
          <p:cNvPr id="514" name="Google Shape;514;p37"/>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515" name="Google Shape;515;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16" name="Google Shape;516;p37"/>
          <p:cNvPicPr preferRelativeResize="0"/>
          <p:nvPr/>
        </p:nvPicPr>
        <p:blipFill>
          <a:blip r:embed="rId3">
            <a:alphaModFix/>
          </a:blip>
          <a:stretch>
            <a:fillRect/>
          </a:stretch>
        </p:blipFill>
        <p:spPr>
          <a:xfrm>
            <a:off x="0" y="1523741"/>
            <a:ext cx="9144000" cy="2472518"/>
          </a:xfrm>
          <a:prstGeom prst="rect">
            <a:avLst/>
          </a:prstGeom>
          <a:noFill/>
          <a:ln>
            <a:noFill/>
          </a:ln>
        </p:spPr>
      </p:pic>
      <p:sp>
        <p:nvSpPr>
          <p:cNvPr id="517" name="Google Shape;517;p37"/>
          <p:cNvSpPr txBox="1"/>
          <p:nvPr/>
        </p:nvSpPr>
        <p:spPr>
          <a:xfrm>
            <a:off x="1002525" y="1171750"/>
            <a:ext cx="50532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Lato"/>
                <a:ea typeface="Lato"/>
                <a:cs typeface="Lato"/>
                <a:sym typeface="Lato"/>
              </a:rPr>
              <a:t>加設履約價切換濾網，21600、21650、21750、21850</a:t>
            </a:r>
            <a:endParaRPr sz="1300">
              <a:solidFill>
                <a:schemeClr val="dk1"/>
              </a:solidFill>
              <a:latin typeface="Lato"/>
              <a:ea typeface="Lato"/>
              <a:cs typeface="Lato"/>
              <a:sym typeface="Lato"/>
            </a:endParaRPr>
          </a:p>
        </p:txBody>
      </p:sp>
      <p:sp>
        <p:nvSpPr>
          <p:cNvPr id="518" name="Google Shape;518;p37"/>
          <p:cNvSpPr/>
          <p:nvPr/>
        </p:nvSpPr>
        <p:spPr>
          <a:xfrm>
            <a:off x="5284826" y="1066002"/>
            <a:ext cx="981300" cy="5580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519" name="Google Shape;519;p37"/>
          <p:cNvSpPr/>
          <p:nvPr/>
        </p:nvSpPr>
        <p:spPr>
          <a:xfrm>
            <a:off x="6361789"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0" name="Google Shape;520;p37"/>
          <p:cNvSpPr/>
          <p:nvPr/>
        </p:nvSpPr>
        <p:spPr>
          <a:xfrm>
            <a:off x="6773734"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1" name="Google Shape;521;p37"/>
          <p:cNvSpPr/>
          <p:nvPr/>
        </p:nvSpPr>
        <p:spPr>
          <a:xfrm>
            <a:off x="7668354"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2" name="Google Shape;522;p37"/>
          <p:cNvSpPr/>
          <p:nvPr/>
        </p:nvSpPr>
        <p:spPr>
          <a:xfrm>
            <a:off x="8080299"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3" name="Google Shape;523;p37"/>
          <p:cNvSpPr/>
          <p:nvPr/>
        </p:nvSpPr>
        <p:spPr>
          <a:xfrm rot="5400000">
            <a:off x="8329935" y="798116"/>
            <a:ext cx="299700" cy="22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4" name="Google Shape;524;p37"/>
          <p:cNvSpPr/>
          <p:nvPr/>
        </p:nvSpPr>
        <p:spPr>
          <a:xfrm>
            <a:off x="8080299" y="1126900"/>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5" name="Google Shape;525;p37"/>
          <p:cNvSpPr/>
          <p:nvPr/>
        </p:nvSpPr>
        <p:spPr>
          <a:xfrm flipH="1">
            <a:off x="7668573"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6" name="Google Shape;526;p37"/>
          <p:cNvSpPr/>
          <p:nvPr/>
        </p:nvSpPr>
        <p:spPr>
          <a:xfrm>
            <a:off x="6773734" y="1126900"/>
            <a:ext cx="799200" cy="4362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7" name="Google Shape;527;p37"/>
          <p:cNvSpPr/>
          <p:nvPr/>
        </p:nvSpPr>
        <p:spPr>
          <a:xfrm flipH="1">
            <a:off x="6362008"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28" name="Google Shape;528;p37"/>
          <p:cNvSpPr/>
          <p:nvPr/>
        </p:nvSpPr>
        <p:spPr>
          <a:xfrm>
            <a:off x="5284826" y="199450"/>
            <a:ext cx="981300" cy="55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8"/>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使用過濾器後，雜訊有效減少</a:t>
            </a:r>
            <a:endParaRPr/>
          </a:p>
          <a:p>
            <a:pPr indent="0" lvl="0" marL="0" rtl="0" algn="l">
              <a:spcBef>
                <a:spcPts val="0"/>
              </a:spcBef>
              <a:spcAft>
                <a:spcPts val="0"/>
              </a:spcAft>
              <a:buNone/>
            </a:pPr>
            <a:r>
              <a:rPr lang="zh-TW"/>
              <a:t>PUT</a:t>
            </a:r>
            <a:endParaRPr/>
          </a:p>
        </p:txBody>
      </p:sp>
      <p:sp>
        <p:nvSpPr>
          <p:cNvPr id="534" name="Google Shape;534;p38"/>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535" name="Google Shape;53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
        <p:nvSpPr>
          <p:cNvPr id="536" name="Google Shape;536;p38"/>
          <p:cNvSpPr txBox="1"/>
          <p:nvPr/>
        </p:nvSpPr>
        <p:spPr>
          <a:xfrm>
            <a:off x="1031850" y="1171775"/>
            <a:ext cx="45786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Lato"/>
                <a:ea typeface="Lato"/>
                <a:cs typeface="Lato"/>
                <a:sym typeface="Lato"/>
              </a:rPr>
              <a:t>加設履約價切換濾網，21600、21650、21750、21850</a:t>
            </a:r>
            <a:endParaRPr sz="1300">
              <a:solidFill>
                <a:schemeClr val="dk1"/>
              </a:solidFill>
              <a:latin typeface="Lato"/>
              <a:ea typeface="Lato"/>
              <a:cs typeface="Lato"/>
              <a:sym typeface="Lato"/>
            </a:endParaRPr>
          </a:p>
          <a:p>
            <a:pPr indent="0" lvl="0" marL="0" rtl="0" algn="l">
              <a:spcBef>
                <a:spcPts val="0"/>
              </a:spcBef>
              <a:spcAft>
                <a:spcPts val="0"/>
              </a:spcAft>
              <a:buNone/>
            </a:pPr>
            <a:r>
              <a:t/>
            </a:r>
            <a:endParaRPr sz="1300">
              <a:solidFill>
                <a:schemeClr val="dk1"/>
              </a:solidFill>
              <a:latin typeface="Lato"/>
              <a:ea typeface="Lato"/>
              <a:cs typeface="Lato"/>
              <a:sym typeface="Lato"/>
            </a:endParaRPr>
          </a:p>
        </p:txBody>
      </p:sp>
      <p:pic>
        <p:nvPicPr>
          <p:cNvPr id="537" name="Google Shape;537;p38"/>
          <p:cNvPicPr preferRelativeResize="0"/>
          <p:nvPr/>
        </p:nvPicPr>
        <p:blipFill>
          <a:blip r:embed="rId3">
            <a:alphaModFix/>
          </a:blip>
          <a:stretch>
            <a:fillRect/>
          </a:stretch>
        </p:blipFill>
        <p:spPr>
          <a:xfrm>
            <a:off x="0" y="1529902"/>
            <a:ext cx="9143999" cy="2666745"/>
          </a:xfrm>
          <a:prstGeom prst="rect">
            <a:avLst/>
          </a:prstGeom>
          <a:noFill/>
          <a:ln>
            <a:noFill/>
          </a:ln>
        </p:spPr>
      </p:pic>
      <p:sp>
        <p:nvSpPr>
          <p:cNvPr id="538" name="Google Shape;538;p38"/>
          <p:cNvSpPr/>
          <p:nvPr/>
        </p:nvSpPr>
        <p:spPr>
          <a:xfrm>
            <a:off x="5284826" y="1066002"/>
            <a:ext cx="981300" cy="558000"/>
          </a:xfrm>
          <a:prstGeom prst="roundRect">
            <a:avLst>
              <a:gd fmla="val 16667" name="adj"/>
            </a:avLst>
          </a:prstGeom>
          <a:solidFill>
            <a:srgbClr val="0093B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Lato"/>
              <a:ea typeface="Lato"/>
              <a:cs typeface="Lato"/>
              <a:sym typeface="Lato"/>
            </a:endParaRPr>
          </a:p>
        </p:txBody>
      </p:sp>
      <p:sp>
        <p:nvSpPr>
          <p:cNvPr id="539" name="Google Shape;539;p38"/>
          <p:cNvSpPr/>
          <p:nvPr/>
        </p:nvSpPr>
        <p:spPr>
          <a:xfrm>
            <a:off x="6361789"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0" name="Google Shape;540;p38"/>
          <p:cNvSpPr/>
          <p:nvPr/>
        </p:nvSpPr>
        <p:spPr>
          <a:xfrm>
            <a:off x="6773734"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1" name="Google Shape;541;p38"/>
          <p:cNvSpPr/>
          <p:nvPr/>
        </p:nvSpPr>
        <p:spPr>
          <a:xfrm>
            <a:off x="7668354"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2" name="Google Shape;542;p38"/>
          <p:cNvSpPr/>
          <p:nvPr/>
        </p:nvSpPr>
        <p:spPr>
          <a:xfrm>
            <a:off x="8080299"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3" name="Google Shape;543;p38"/>
          <p:cNvSpPr/>
          <p:nvPr/>
        </p:nvSpPr>
        <p:spPr>
          <a:xfrm rot="5400000">
            <a:off x="8329935" y="798116"/>
            <a:ext cx="299700" cy="22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4" name="Google Shape;544;p38"/>
          <p:cNvSpPr/>
          <p:nvPr/>
        </p:nvSpPr>
        <p:spPr>
          <a:xfrm>
            <a:off x="8080299" y="1126900"/>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5" name="Google Shape;545;p38"/>
          <p:cNvSpPr/>
          <p:nvPr/>
        </p:nvSpPr>
        <p:spPr>
          <a:xfrm flipH="1">
            <a:off x="7668573"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6" name="Google Shape;546;p38"/>
          <p:cNvSpPr/>
          <p:nvPr/>
        </p:nvSpPr>
        <p:spPr>
          <a:xfrm>
            <a:off x="6773734" y="1126900"/>
            <a:ext cx="799200" cy="4362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7" name="Google Shape;547;p38"/>
          <p:cNvSpPr/>
          <p:nvPr/>
        </p:nvSpPr>
        <p:spPr>
          <a:xfrm flipH="1">
            <a:off x="6362008"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48" name="Google Shape;548;p38"/>
          <p:cNvSpPr/>
          <p:nvPr/>
        </p:nvSpPr>
        <p:spPr>
          <a:xfrm>
            <a:off x="5284826" y="199450"/>
            <a:ext cx="981300" cy="55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9"/>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買賣權價平履約價的K線</a:t>
            </a:r>
            <a:endParaRPr/>
          </a:p>
          <a:p>
            <a:pPr indent="0" lvl="0" marL="0" rtl="0" algn="l">
              <a:spcBef>
                <a:spcPts val="0"/>
              </a:spcBef>
              <a:spcAft>
                <a:spcPts val="0"/>
              </a:spcAft>
              <a:buNone/>
            </a:pPr>
            <a:r>
              <a:rPr lang="zh-TW"/>
              <a:t>同一時間下K棒相加（C+P）</a:t>
            </a:r>
            <a:endParaRPr/>
          </a:p>
        </p:txBody>
      </p:sp>
      <p:sp>
        <p:nvSpPr>
          <p:cNvPr id="554" name="Google Shape;554;p39"/>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zh-TW"/>
              <a:t>	</a:t>
            </a:r>
            <a:endParaRPr/>
          </a:p>
        </p:txBody>
      </p:sp>
      <p:sp>
        <p:nvSpPr>
          <p:cNvPr id="555" name="Google Shape;555;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pic>
        <p:nvPicPr>
          <p:cNvPr id="556" name="Google Shape;556;p39"/>
          <p:cNvPicPr preferRelativeResize="0"/>
          <p:nvPr/>
        </p:nvPicPr>
        <p:blipFill>
          <a:blip r:embed="rId3">
            <a:alphaModFix/>
          </a:blip>
          <a:stretch>
            <a:fillRect/>
          </a:stretch>
        </p:blipFill>
        <p:spPr>
          <a:xfrm>
            <a:off x="0" y="1567561"/>
            <a:ext cx="9144002" cy="2523328"/>
          </a:xfrm>
          <a:prstGeom prst="rect">
            <a:avLst/>
          </a:prstGeom>
          <a:noFill/>
          <a:ln>
            <a:noFill/>
          </a:ln>
        </p:spPr>
      </p:pic>
      <p:sp>
        <p:nvSpPr>
          <p:cNvPr id="557" name="Google Shape;557;p39"/>
          <p:cNvSpPr txBox="1"/>
          <p:nvPr/>
        </p:nvSpPr>
        <p:spPr>
          <a:xfrm>
            <a:off x="1053000" y="1126900"/>
            <a:ext cx="5053200" cy="3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zh-TW" sz="1300">
                <a:solidFill>
                  <a:schemeClr val="dk1"/>
                </a:solidFill>
                <a:latin typeface="Lato"/>
                <a:ea typeface="Lato"/>
                <a:cs typeface="Lato"/>
                <a:sym typeface="Lato"/>
              </a:rPr>
              <a:t>加設履約價切換濾網，21600、21650、21750、21850</a:t>
            </a:r>
            <a:endParaRPr sz="1300">
              <a:solidFill>
                <a:schemeClr val="dk1"/>
              </a:solidFill>
              <a:latin typeface="Lato"/>
              <a:ea typeface="Lato"/>
              <a:cs typeface="Lato"/>
              <a:sym typeface="Lato"/>
            </a:endParaRPr>
          </a:p>
        </p:txBody>
      </p:sp>
      <p:sp>
        <p:nvSpPr>
          <p:cNvPr id="558" name="Google Shape;558;p39"/>
          <p:cNvSpPr/>
          <p:nvPr/>
        </p:nvSpPr>
        <p:spPr>
          <a:xfrm>
            <a:off x="5284826" y="1066002"/>
            <a:ext cx="981300" cy="558000"/>
          </a:xfrm>
          <a:prstGeom prst="roundRect">
            <a:avLst>
              <a:gd fmla="val 16667" name="adj"/>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0000"/>
              </a:solidFill>
              <a:latin typeface="Lato"/>
              <a:ea typeface="Lato"/>
              <a:cs typeface="Lato"/>
              <a:sym typeface="Lato"/>
            </a:endParaRPr>
          </a:p>
        </p:txBody>
      </p:sp>
      <p:sp>
        <p:nvSpPr>
          <p:cNvPr id="559" name="Google Shape;559;p39"/>
          <p:cNvSpPr/>
          <p:nvPr/>
        </p:nvSpPr>
        <p:spPr>
          <a:xfrm>
            <a:off x="6361789"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0" name="Google Shape;560;p39"/>
          <p:cNvSpPr/>
          <p:nvPr/>
        </p:nvSpPr>
        <p:spPr>
          <a:xfrm>
            <a:off x="6773734"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1" name="Google Shape;561;p39"/>
          <p:cNvSpPr/>
          <p:nvPr/>
        </p:nvSpPr>
        <p:spPr>
          <a:xfrm>
            <a:off x="7668354" y="370914"/>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2" name="Google Shape;562;p39"/>
          <p:cNvSpPr/>
          <p:nvPr/>
        </p:nvSpPr>
        <p:spPr>
          <a:xfrm>
            <a:off x="8080299" y="260347"/>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3" name="Google Shape;563;p39"/>
          <p:cNvSpPr/>
          <p:nvPr/>
        </p:nvSpPr>
        <p:spPr>
          <a:xfrm rot="5400000">
            <a:off x="8329935" y="798116"/>
            <a:ext cx="299700" cy="227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4" name="Google Shape;564;p39"/>
          <p:cNvSpPr/>
          <p:nvPr/>
        </p:nvSpPr>
        <p:spPr>
          <a:xfrm>
            <a:off x="8080299" y="1126900"/>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5" name="Google Shape;565;p39"/>
          <p:cNvSpPr/>
          <p:nvPr/>
        </p:nvSpPr>
        <p:spPr>
          <a:xfrm flipH="1">
            <a:off x="7668573"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6" name="Google Shape;566;p39"/>
          <p:cNvSpPr/>
          <p:nvPr/>
        </p:nvSpPr>
        <p:spPr>
          <a:xfrm>
            <a:off x="6773734" y="1126900"/>
            <a:ext cx="799200" cy="436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7" name="Google Shape;567;p39"/>
          <p:cNvSpPr/>
          <p:nvPr/>
        </p:nvSpPr>
        <p:spPr>
          <a:xfrm flipH="1">
            <a:off x="6362008" y="1237466"/>
            <a:ext cx="316200" cy="2151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68" name="Google Shape;568;p39"/>
          <p:cNvSpPr/>
          <p:nvPr/>
        </p:nvSpPr>
        <p:spPr>
          <a:xfrm>
            <a:off x="5284826" y="199450"/>
            <a:ext cx="981300" cy="558000"/>
          </a:xfrm>
          <a:prstGeom prst="roundRect">
            <a:avLst>
              <a:gd fmla="val 16667" name="adj"/>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pic>
        <p:nvPicPr>
          <p:cNvPr id="573" name="Google Shape;573;p40"/>
          <p:cNvPicPr preferRelativeResize="0"/>
          <p:nvPr/>
        </p:nvPicPr>
        <p:blipFill rotWithShape="1">
          <a:blip r:embed="rId3">
            <a:alphaModFix/>
          </a:blip>
          <a:srcRect b="3466" l="2467" r="0" t="22293"/>
          <a:stretch/>
        </p:blipFill>
        <p:spPr>
          <a:xfrm>
            <a:off x="225850" y="2718700"/>
            <a:ext cx="8918152" cy="1873200"/>
          </a:xfrm>
          <a:prstGeom prst="rect">
            <a:avLst/>
          </a:prstGeom>
          <a:noFill/>
          <a:ln>
            <a:noFill/>
          </a:ln>
        </p:spPr>
      </p:pic>
      <p:sp>
        <p:nvSpPr>
          <p:cNvPr id="574" name="Google Shape;574;p40"/>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zh-TW"/>
              <a:t>C + P 價平履約價 K 線：揭示市場中性預期與結構變化</a:t>
            </a:r>
            <a:endParaRPr/>
          </a:p>
        </p:txBody>
      </p:sp>
      <p:sp>
        <p:nvSpPr>
          <p:cNvPr id="575" name="Google Shape;575;p40"/>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t>意義</a:t>
            </a:r>
            <a:endParaRPr/>
          </a:p>
          <a:p>
            <a:pPr indent="0" lvl="0" marL="0" rtl="0" algn="l">
              <a:spcBef>
                <a:spcPts val="1200"/>
              </a:spcBef>
              <a:spcAft>
                <a:spcPts val="0"/>
              </a:spcAft>
              <a:buNone/>
            </a:pPr>
            <a:r>
              <a:rPr lang="zh-TW"/>
              <a:t>什麼是 C+P 價平履約價 K 線？</a:t>
            </a:r>
            <a:endParaRPr/>
          </a:p>
          <a:p>
            <a:pPr indent="0" lvl="0" marL="0" rtl="0" algn="l">
              <a:spcBef>
                <a:spcPts val="1200"/>
              </a:spcBef>
              <a:spcAft>
                <a:spcPts val="1200"/>
              </a:spcAft>
              <a:buNone/>
            </a:pPr>
            <a:r>
              <a:rPr lang="zh-TW"/>
              <a:t>為何這樣合成？</a:t>
            </a:r>
            <a:endParaRPr/>
          </a:p>
        </p:txBody>
      </p:sp>
      <p:sp>
        <p:nvSpPr>
          <p:cNvPr id="576" name="Google Shape;576;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solidFill>
                  <a:schemeClr val="lt1"/>
                </a:solidFill>
              </a:rPr>
              <a:t>‹#›</a:t>
            </a:fld>
            <a:endParaRPr>
              <a:solidFill>
                <a:schemeClr val="lt1"/>
              </a:solidFill>
            </a:endParaRPr>
          </a:p>
        </p:txBody>
      </p:sp>
      <p:sp>
        <p:nvSpPr>
          <p:cNvPr id="577" name="Google Shape;577;p40"/>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a:solidFill>
                  <a:srgbClr val="000000"/>
                </a:solidFill>
                <a:latin typeface="Arial"/>
                <a:ea typeface="Arial"/>
                <a:cs typeface="Arial"/>
                <a:sym typeface="Arial"/>
              </a:rPr>
              <a:t>應用層面</a:t>
            </a:r>
            <a:endParaRPr>
              <a:solidFill>
                <a:srgbClr val="000000"/>
              </a:solidFill>
              <a:latin typeface="Arial"/>
              <a:ea typeface="Arial"/>
              <a:cs typeface="Arial"/>
              <a:sym typeface="Arial"/>
            </a:endParaRPr>
          </a:p>
          <a:p>
            <a:pPr indent="0" lvl="0" marL="0" rtl="0" algn="l">
              <a:spcBef>
                <a:spcPts val="1200"/>
              </a:spcBef>
              <a:spcAft>
                <a:spcPts val="0"/>
              </a:spcAft>
              <a:buNone/>
            </a:pPr>
            <a:r>
              <a:rPr lang="zh-TW">
                <a:solidFill>
                  <a:srgbClr val="000000"/>
                </a:solidFill>
                <a:latin typeface="Arial"/>
                <a:ea typeface="Arial"/>
                <a:cs typeface="Arial"/>
                <a:sym typeface="Arial"/>
              </a:rPr>
              <a:t>對於期權策略（如 straddle、strangle）交易者來說，該 K 線代表「雙邊成本總價」隨時間的波動。</a:t>
            </a:r>
            <a:endParaRPr>
              <a:solidFill>
                <a:srgbClr val="000000"/>
              </a:solidFill>
              <a:latin typeface="Arial"/>
              <a:ea typeface="Arial"/>
              <a:cs typeface="Arial"/>
              <a:sym typeface="Arial"/>
            </a:endParaRPr>
          </a:p>
          <a:p>
            <a:pPr indent="457200" lvl="0" marL="0" rtl="0" algn="l">
              <a:spcBef>
                <a:spcPts val="1200"/>
              </a:spcBef>
              <a:spcAft>
                <a:spcPts val="0"/>
              </a:spcAft>
              <a:buNone/>
            </a:pPr>
            <a:r>
              <a:t/>
            </a:r>
            <a:endParaRPr>
              <a:solidFill>
                <a:srgbClr val="000000"/>
              </a:solidFill>
              <a:latin typeface="Arial"/>
              <a:ea typeface="Arial"/>
              <a:cs typeface="Arial"/>
              <a:sym typeface="Arial"/>
            </a:endParaRPr>
          </a:p>
          <a:p>
            <a:pPr indent="0" lvl="0" marL="0" rtl="0" algn="l">
              <a:spcBef>
                <a:spcPts val="1200"/>
              </a:spcBef>
              <a:spcAft>
                <a:spcPts val="1200"/>
              </a:spcAft>
              <a:buNone/>
            </a:pPr>
            <a:r>
              <a:t/>
            </a:r>
            <a:endParaRPr>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sp>
        <p:nvSpPr>
          <p:cNvPr id="582" name="Google Shape;582;p4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t>目前缺點與限制</a:t>
            </a:r>
            <a:endParaRPr sz="2500"/>
          </a:p>
        </p:txBody>
      </p:sp>
      <p:sp>
        <p:nvSpPr>
          <p:cNvPr id="583" name="Google Shape;583;p41"/>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zh-TW" sz="2100"/>
              <a:t>雖然</a:t>
            </a:r>
            <a:r>
              <a:rPr lang="zh-TW" sz="2100"/>
              <a:t>WEB API有每分鐘能發送多達300次數據請求的優點，足夠滿足台指選行情蒐集的需求。</a:t>
            </a:r>
            <a:r>
              <a:rPr lang="zh-TW" sz="2100"/>
              <a:t>但因為使用的是WEB API 而非WEB SOCKET ，因此抓到1分K行情已經是極限，而WEB SOCKET有即時連線的功能，但是大連線數為5的限制因此對選擇權不友好。只能從現在開始保存資料，過往歷史行情資料無法透過此方法取得。因此離有充分的回測資料還需要時間</a:t>
            </a:r>
            <a:endParaRPr sz="2100"/>
          </a:p>
        </p:txBody>
      </p:sp>
      <p:sp>
        <p:nvSpPr>
          <p:cNvPr id="584" name="Google Shape;584;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42"/>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t>後續方向</a:t>
            </a:r>
            <a:endParaRPr sz="2500"/>
          </a:p>
        </p:txBody>
      </p:sp>
      <p:sp>
        <p:nvSpPr>
          <p:cNvPr id="590" name="Google Shape;590;p42"/>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400"/>
              <a:t>根據實務研究、驗證並完善價平履約價與過濾器的設計，在穩定與靈敏反應行情間找到平衡。結合台指期貨商品資料製作更全面的回測平台以方便透過台指期搭配選擇權形成完整的策略，並構建回測的功能。</a:t>
            </a:r>
            <a:endParaRPr sz="2400"/>
          </a:p>
        </p:txBody>
      </p:sp>
      <p:sp>
        <p:nvSpPr>
          <p:cNvPr id="591" name="Google Shape;591;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43"/>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zh-TW" sz="2500"/>
              <a:t>總結</a:t>
            </a:r>
            <a:endParaRPr sz="2500"/>
          </a:p>
        </p:txBody>
      </p:sp>
      <p:sp>
        <p:nvSpPr>
          <p:cNvPr id="597" name="Google Shape;597;p43"/>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zh-TW" sz="2500"/>
              <a:t>透過富邦新一代API，對選擇權行情進行儲存、讀取並進行行情視覺化，為後續選擇權回測功能進行鋪路，滿足選擇權複雜且多樣的策略模擬與驗證的需求。 讓人們更願意參與選擇權交易</a:t>
            </a:r>
            <a:r>
              <a:rPr lang="zh-TW" sz="1700"/>
              <a:t> </a:t>
            </a:r>
            <a:endParaRPr sz="1700"/>
          </a:p>
        </p:txBody>
      </p:sp>
      <p:sp>
        <p:nvSpPr>
          <p:cNvPr id="598" name="Google Shape;598;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zh-TW"/>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